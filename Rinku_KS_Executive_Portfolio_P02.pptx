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5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79"/>
  </p:normalViewPr>
  <p:slideViewPr>
    <p:cSldViewPr snapToGrid="0" snapToObjects="1">
      <p:cViewPr varScale="1">
        <p:scale>
          <a:sx n="88" d="100"/>
          <a:sy n="88" d="100"/>
        </p:scale>
        <p:origin x="1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9215A-4615-634C-B885-B11BE23AA233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07F62-45BC-4344-8EFD-B8ED01194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BA53-DF19-18EF-0143-929952F9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1CAA1-643D-438F-1A2B-5C9EC8EF4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350A8-1C38-30A3-D231-03D530340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37B37-86F7-EF72-0E50-36224277C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07F62-45BC-4344-8EFD-B8ED01194C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9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F71B88-1390-163A-E94A-2E7EFCF3F54B}"/>
              </a:ext>
            </a:extLst>
          </p:cNvPr>
          <p:cNvGrpSpPr/>
          <p:nvPr/>
        </p:nvGrpSpPr>
        <p:grpSpPr>
          <a:xfrm>
            <a:off x="4553852" y="1444516"/>
            <a:ext cx="6714699" cy="3264414"/>
            <a:chOff x="4061857" y="708113"/>
            <a:chExt cx="6714699" cy="326441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38579A-C2C8-1855-3011-74672D7AA39B}"/>
                </a:ext>
              </a:extLst>
            </p:cNvPr>
            <p:cNvSpPr txBox="1"/>
            <p:nvPr/>
          </p:nvSpPr>
          <p:spPr>
            <a:xfrm>
              <a:off x="4061857" y="708113"/>
              <a:ext cx="6714699" cy="218958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/>
            <a:p>
              <a:pPr defTabSz="914400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3600" b="1" kern="1200" dirty="0">
                  <a:solidFill>
                    <a:srgbClr val="FFFFFF"/>
                  </a:solidFill>
                  <a:latin typeface="Aptos" panose="020B0004020202020204" pitchFamily="34" charset="0"/>
                  <a:ea typeface="+mj-ea"/>
                  <a:cs typeface="+mj-cs"/>
                </a:rPr>
                <a:t>Customer Self-Service </a:t>
              </a:r>
            </a:p>
            <a:p>
              <a:pPr defTabSz="914400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3600" b="1" kern="1200" dirty="0">
                  <a:solidFill>
                    <a:srgbClr val="FFFFFF"/>
                  </a:solidFill>
                  <a:latin typeface="Aptos" panose="020B0004020202020204" pitchFamily="34" charset="0"/>
                  <a:ea typeface="+mj-ea"/>
                  <a:cs typeface="+mj-cs"/>
                </a:rPr>
                <a:t>Digital Platform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5817BB-FAC5-B1C6-50E4-8886AC0AFA33}"/>
                </a:ext>
              </a:extLst>
            </p:cNvPr>
            <p:cNvSpPr txBox="1"/>
            <p:nvPr/>
          </p:nvSpPr>
          <p:spPr>
            <a:xfrm>
              <a:off x="4915491" y="3356974"/>
              <a:ext cx="500743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>
                  <a:solidFill>
                    <a:srgbClr val="414141"/>
                  </a:solidFill>
                  <a:latin typeface="Aptos"/>
                </a:defRPr>
              </a:pPr>
              <a:r>
                <a:rPr i="1" dirty="0">
                  <a:solidFill>
                    <a:schemeClr val="bg1">
                      <a:lumMod val="90000"/>
                      <a:alpha val="70201"/>
                    </a:schemeClr>
                  </a:solidFill>
                </a:rPr>
                <a:t>A simulated PM case study combining Lean Six Sigma, Agile/Scrum</a:t>
              </a:r>
              <a:r>
                <a:rPr lang="en-US" i="1" dirty="0">
                  <a:solidFill>
                    <a:schemeClr val="bg1">
                      <a:lumMod val="90000"/>
                      <a:alpha val="70201"/>
                    </a:schemeClr>
                  </a:solidFill>
                </a:rPr>
                <a:t>,</a:t>
              </a:r>
              <a:r>
                <a:rPr i="1" dirty="0">
                  <a:solidFill>
                    <a:schemeClr val="bg1">
                      <a:lumMod val="90000"/>
                      <a:alpha val="70201"/>
                    </a:schemeClr>
                  </a:solidFill>
                </a:rPr>
                <a:t> and SDLC governance</a:t>
              </a:r>
              <a:r>
                <a:rPr dirty="0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2F5712-F676-7276-0FDA-4D658620D43A}"/>
              </a:ext>
            </a:extLst>
          </p:cNvPr>
          <p:cNvGrpSpPr/>
          <p:nvPr/>
        </p:nvGrpSpPr>
        <p:grpSpPr>
          <a:xfrm>
            <a:off x="783647" y="1710929"/>
            <a:ext cx="1804468" cy="3452352"/>
            <a:chOff x="696685" y="1295841"/>
            <a:chExt cx="1804468" cy="34523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9A666D-D02F-C3E9-D641-7444452F825B}"/>
                </a:ext>
              </a:extLst>
            </p:cNvPr>
            <p:cNvSpPr txBox="1"/>
            <p:nvPr/>
          </p:nvSpPr>
          <p:spPr>
            <a:xfrm>
              <a:off x="696685" y="1295841"/>
              <a:ext cx="18044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Project Manager: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Rinku KS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01EA01-CCC5-8921-9C85-0ECC5F44C00E}"/>
                </a:ext>
              </a:extLst>
            </p:cNvPr>
            <p:cNvSpPr txBox="1"/>
            <p:nvPr/>
          </p:nvSpPr>
          <p:spPr>
            <a:xfrm>
              <a:off x="696686" y="2231181"/>
              <a:ext cx="9941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PMP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Certified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776533-2EE5-D6D8-0EA6-017A826B752E}"/>
                </a:ext>
              </a:extLst>
            </p:cNvPr>
            <p:cNvSpPr txBox="1"/>
            <p:nvPr/>
          </p:nvSpPr>
          <p:spPr>
            <a:xfrm>
              <a:off x="696685" y="3166521"/>
              <a:ext cx="10724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Executive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Portfolio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99B13F-8C30-A2FE-738C-EC781517A6E9}"/>
                </a:ext>
              </a:extLst>
            </p:cNvPr>
            <p:cNvSpPr txBox="1"/>
            <p:nvPr/>
          </p:nvSpPr>
          <p:spPr>
            <a:xfrm>
              <a:off x="738217" y="4101862"/>
              <a:ext cx="8345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August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6773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9438" y="203200"/>
            <a:ext cx="785080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2372D"/>
                </a:solidFill>
                <a:latin typeface="Aptos"/>
              </a:defRPr>
            </a:pPr>
            <a:r>
              <a:rPr dirty="0">
                <a:solidFill>
                  <a:srgbClr val="22372D"/>
                </a:solidFill>
              </a:rPr>
              <a:t>Customer Self-Service Digital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3383280" cy="1508760"/>
          </a:xfrm>
          <a:prstGeom prst="roundRect">
            <a:avLst/>
          </a:prstGeom>
          <a:solidFill>
            <a:srgbClr val="ED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39758" y="3474720"/>
            <a:ext cx="9668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4833"/>
                </a:solidFill>
                <a:latin typeface="Aptos"/>
              </a:defRPr>
            </a:pPr>
            <a:r>
              <a:rPr dirty="0"/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867911"/>
            <a:ext cx="3054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14141"/>
                </a:solidFill>
                <a:latin typeface="Aptos"/>
              </a:defRPr>
            </a:pPr>
            <a:r>
              <a:rPr sz="1200" dirty="0"/>
              <a:t>Define and deliver an MVP to reduce avoidable customer support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337560"/>
            <a:ext cx="3383280" cy="1508760"/>
          </a:xfrm>
          <a:prstGeom prst="roundRect">
            <a:avLst/>
          </a:prstGeom>
          <a:solidFill>
            <a:srgbClr val="DE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91667" y="3474720"/>
            <a:ext cx="16696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4833"/>
                </a:solidFill>
                <a:latin typeface="Aptos"/>
              </a:defRPr>
            </a:pPr>
            <a:r>
              <a:rPr dirty="0"/>
              <a:t>Delivery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0" y="3867911"/>
            <a:ext cx="3054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14141"/>
                </a:solidFill>
                <a:latin typeface="Aptos"/>
              </a:defRPr>
            </a:pPr>
            <a:r>
              <a:rPr sz="1200" dirty="0"/>
              <a:t>Lean diagnosis → future-state design → prioriti</a:t>
            </a:r>
            <a:r>
              <a:rPr lang="en-US" sz="1200" dirty="0"/>
              <a:t>z</a:t>
            </a:r>
            <a:r>
              <a:rPr sz="1200" dirty="0"/>
              <a:t>ed backlog → Jira/Scrum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337560"/>
            <a:ext cx="3383280" cy="1508760"/>
          </a:xfrm>
          <a:prstGeom prst="roundRect">
            <a:avLst/>
          </a:prstGeom>
          <a:solidFill>
            <a:srgbClr val="ED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6964" y="3474720"/>
            <a:ext cx="10456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4833"/>
                </a:solidFill>
                <a:latin typeface="Aptos"/>
              </a:defRPr>
            </a:pPr>
            <a:r>
              <a:t>MVP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867911"/>
            <a:ext cx="3054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14141"/>
                </a:solidFill>
                <a:latin typeface="Aptos"/>
              </a:defRPr>
            </a:pPr>
            <a:r>
              <a:rPr sz="1200" dirty="0"/>
              <a:t>Account/Profile • Service Status • Request Tracking • Document Centre • Notifications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AED02C-13B3-232F-1E2F-B15D1EEC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60" y="2185816"/>
            <a:ext cx="635000" cy="63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8CB16C-1B30-34E9-245B-1E9E93FBD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978" y="2185816"/>
            <a:ext cx="635000" cy="635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A4E36C-BB0C-5894-3EB1-8FE302CDD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300" y="2185816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7277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Business Problem &amp;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672350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sz="1200" dirty="0"/>
              <a:t>Customer requests relied heavily on support channels for routine status and information needs</a:t>
            </a:r>
            <a:r>
              <a:rPr dirty="0"/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404BAC-FD53-3F43-C451-F6A45F1F90DD}"/>
              </a:ext>
            </a:extLst>
          </p:cNvPr>
          <p:cNvGrpSpPr/>
          <p:nvPr/>
        </p:nvGrpSpPr>
        <p:grpSpPr>
          <a:xfrm>
            <a:off x="883920" y="1809205"/>
            <a:ext cx="10424160" cy="3749040"/>
            <a:chOff x="594360" y="1417320"/>
            <a:chExt cx="10424160" cy="3749040"/>
          </a:xfrm>
        </p:grpSpPr>
        <p:sp>
          <p:nvSpPr>
            <p:cNvPr id="4" name="Rounded Rectangle 3"/>
            <p:cNvSpPr/>
            <p:nvPr/>
          </p:nvSpPr>
          <p:spPr>
            <a:xfrm>
              <a:off x="594360" y="1417320"/>
              <a:ext cx="3291840" cy="182880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8952" y="1554480"/>
              <a:ext cx="29626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92 min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04676" y="2193220"/>
              <a:ext cx="2071208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Current-state total lead time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160520" y="1417320"/>
              <a:ext cx="3291840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5112" y="1554480"/>
              <a:ext cx="29626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64 min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66256" y="2193220"/>
              <a:ext cx="2263248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Waiting time within the process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726679" y="1417320"/>
              <a:ext cx="3291840" cy="182880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91271" y="1554480"/>
              <a:ext cx="29626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25%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09038" y="2194783"/>
              <a:ext cx="2127121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Value-added processing time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94360" y="3657600"/>
              <a:ext cx="5074920" cy="150876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8952" y="3794760"/>
              <a:ext cx="474573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Customer journey pain points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8952" y="4370832"/>
              <a:ext cx="474573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Manual status searching • repeated follow-up • fragmented information • waiting for updates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897880" y="3657600"/>
              <a:ext cx="5120640" cy="150876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62472" y="3794760"/>
              <a:ext cx="4791455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Process diagnosis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96000" y="4370831"/>
              <a:ext cx="4897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Multiple handoffs, queue time, manual searching and rework created avoidable delay.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2263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Waste &amp; Root-Cause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635199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sz="1200" dirty="0"/>
              <a:t>Lean analysis was used to identify where delay and avoidable effort entered the current state</a:t>
            </a:r>
            <a:r>
              <a:rPr dirty="0"/>
              <a:t>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B44ED4-FFED-4EA5-D18E-3212A8847755}"/>
              </a:ext>
            </a:extLst>
          </p:cNvPr>
          <p:cNvGrpSpPr/>
          <p:nvPr/>
        </p:nvGrpSpPr>
        <p:grpSpPr>
          <a:xfrm>
            <a:off x="627888" y="1647149"/>
            <a:ext cx="10936224" cy="4494609"/>
            <a:chOff x="627888" y="1428884"/>
            <a:chExt cx="10936224" cy="4494609"/>
          </a:xfrm>
        </p:grpSpPr>
        <p:sp>
          <p:nvSpPr>
            <p:cNvPr id="4" name="Rounded Rectangle 3"/>
            <p:cNvSpPr/>
            <p:nvPr/>
          </p:nvSpPr>
          <p:spPr>
            <a:xfrm>
              <a:off x="627888" y="2220173"/>
              <a:ext cx="2487168" cy="1874519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00734" y="2357333"/>
              <a:ext cx="79919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Waiting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2481" y="2808581"/>
              <a:ext cx="176321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Queues and delayed status retrieval</a:t>
              </a:r>
              <a:br>
                <a:rPr sz="1200" dirty="0"/>
              </a:br>
              <a:br>
                <a:rPr sz="1200" dirty="0"/>
              </a:br>
              <a:r>
                <a:rPr sz="1200" dirty="0"/>
                <a:t>Impact: Long lead time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44240" y="2220173"/>
              <a:ext cx="2487168" cy="1874519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09547" y="2357333"/>
              <a:ext cx="75655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Search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08833" y="2808581"/>
              <a:ext cx="18675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Manual searching across systems</a:t>
              </a:r>
              <a:br>
                <a:rPr sz="1200" dirty="0"/>
              </a:br>
              <a:br>
                <a:rPr sz="1200" dirty="0"/>
              </a:br>
              <a:r>
                <a:rPr sz="1200" dirty="0"/>
                <a:t>Impact: Customer effort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60592" y="2220173"/>
              <a:ext cx="2487168" cy="1874519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6054" y="2357333"/>
              <a:ext cx="79624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Rework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25183" y="2808581"/>
              <a:ext cx="215798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/>
                <a:t>Repeated follow-up and information retrieval</a:t>
              </a:r>
              <a:br>
                <a:rPr sz="1200"/>
              </a:br>
              <a:br>
                <a:rPr sz="1200"/>
              </a:br>
              <a:r>
                <a:rPr sz="1200"/>
                <a:t>Impact: Extra handling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076944" y="2220173"/>
              <a:ext cx="2487168" cy="1874519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849790" y="2357333"/>
              <a:ext cx="941476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Handoffs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41536" y="2808580"/>
              <a:ext cx="215798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Fragmented ownership across steps</a:t>
              </a:r>
              <a:br>
                <a:rPr sz="1200" dirty="0"/>
              </a:br>
              <a:br>
                <a:rPr sz="1200" dirty="0"/>
              </a:br>
              <a:r>
                <a:rPr sz="1200" dirty="0"/>
                <a:t>Impact: Delay / uncertainty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65048" y="4597613"/>
              <a:ext cx="10652760" cy="132588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300" b="1">
                  <a:solidFill>
                    <a:srgbClr val="FFFFFF"/>
                  </a:solidFill>
                  <a:latin typeface="Aptos"/>
                </a:defRPr>
              </a:pPr>
              <a:r>
                <a:rPr sz="1400" dirty="0"/>
                <a:t>A3 problem statement</a:t>
              </a:r>
              <a:endParaRPr lang="en-US" sz="1400" dirty="0"/>
            </a:p>
            <a:p>
              <a:pPr algn="ctr">
                <a:defRPr sz="1300" b="1">
                  <a:solidFill>
                    <a:srgbClr val="FFFFFF"/>
                  </a:solidFill>
                  <a:latin typeface="Aptos"/>
                </a:defRPr>
              </a:pPr>
              <a:endParaRPr sz="1400" dirty="0"/>
            </a:p>
            <a:p>
              <a:pPr algn="ctr">
                <a:defRPr sz="1400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Customer status requests experience long waiting periods, fragmented information, multiple handoffs and rework.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F92EDEA-86ED-C92B-65DD-7BB26EBE8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0853" y="1497807"/>
              <a:ext cx="500400" cy="5004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A297C2-AA4E-13A0-316E-AB5D753FB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0251" y="1497389"/>
              <a:ext cx="500400" cy="5004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A249AD9-AD35-3514-F135-E537BE143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53975" y="1475586"/>
              <a:ext cx="500400" cy="5004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22BB19F-6C35-3BF6-8E88-DC107694B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8092" y="1428884"/>
              <a:ext cx="637409" cy="6374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8404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Future State &amp; Improvement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27603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dirty="0"/>
              <a:t>The proposed future state shifts routine status needs toward self-service and </a:t>
            </a:r>
            <a:r>
              <a:rPr sz="1200" dirty="0"/>
              <a:t>proactive</a:t>
            </a:r>
            <a:r>
              <a:rPr dirty="0"/>
              <a:t> communication.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7699D1-5A91-2914-67A1-CA98B136DBDC}"/>
              </a:ext>
            </a:extLst>
          </p:cNvPr>
          <p:cNvGrpSpPr/>
          <p:nvPr/>
        </p:nvGrpSpPr>
        <p:grpSpPr>
          <a:xfrm>
            <a:off x="746760" y="1748749"/>
            <a:ext cx="10698479" cy="3995708"/>
            <a:chOff x="594360" y="1371600"/>
            <a:chExt cx="10698479" cy="3995708"/>
          </a:xfrm>
        </p:grpSpPr>
        <p:sp>
          <p:nvSpPr>
            <p:cNvPr id="4" name="Rounded Rectangle 3"/>
            <p:cNvSpPr/>
            <p:nvPr/>
          </p:nvSpPr>
          <p:spPr>
            <a:xfrm>
              <a:off x="594360" y="1371600"/>
              <a:ext cx="3246120" cy="155448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8952" y="1508760"/>
              <a:ext cx="291693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54 min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87737" y="2010340"/>
              <a:ext cx="1659365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Future-state lead time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160520" y="1371600"/>
              <a:ext cx="3246120" cy="155448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5112" y="1508760"/>
              <a:ext cx="291693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53%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30077" y="2010340"/>
              <a:ext cx="170700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Waiting-time reduction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726679" y="1371600"/>
              <a:ext cx="3246120" cy="155448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91271" y="1508760"/>
              <a:ext cx="291693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≤65 min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2054" y="2007661"/>
              <a:ext cx="1815369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A3 target-state lead time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5800" y="3657600"/>
              <a:ext cx="1600200" cy="9144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94833"/>
                  </a:solidFill>
                  <a:latin typeface="Aptos"/>
                </a:defRPr>
              </a:pPr>
              <a:r>
                <a:t>Request submitted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295144" y="4114800"/>
              <a:ext cx="585216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2926080" y="3657600"/>
              <a:ext cx="1600200" cy="9144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94833"/>
                  </a:solidFill>
                  <a:latin typeface="Aptos"/>
                </a:defRPr>
              </a:pPr>
              <a:r>
                <a:t>Status data retrieved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535424" y="4114800"/>
              <a:ext cx="585216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5166360" y="3657600"/>
              <a:ext cx="1600200" cy="9144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94833"/>
                  </a:solidFill>
                  <a:latin typeface="Aptos"/>
                </a:defRPr>
              </a:pPr>
              <a:r>
                <a:t>Self-service status view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6775704" y="4114800"/>
              <a:ext cx="585216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7406640" y="3657600"/>
              <a:ext cx="1600200" cy="9144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94833"/>
                  </a:solidFill>
                  <a:latin typeface="Aptos"/>
                </a:defRPr>
              </a:pPr>
              <a:r>
                <a:t>Proactive notification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9015984" y="4114800"/>
              <a:ext cx="585216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9646920" y="3657600"/>
              <a:ext cx="1600200" cy="9144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194833"/>
                  </a:solidFill>
                  <a:latin typeface="Aptos"/>
                </a:defRPr>
              </a:pPr>
              <a:r>
                <a:t>Customer resolution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3428" y="5074920"/>
              <a:ext cx="1034941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>
                  <a:solidFill>
                    <a:srgbClr val="414141"/>
                  </a:solidFill>
                  <a:latin typeface="Aptos"/>
                </a:defRPr>
              </a:pPr>
              <a:r>
                <a:rPr b="1" dirty="0"/>
                <a:t>Target condition: </a:t>
              </a:r>
              <a:r>
                <a:rPr dirty="0"/>
                <a:t>reduce avoidable waiting while improving visibility, ownership and customer communication.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8FCFA-631B-270B-2A68-3B659772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023CF-F015-F70C-60F4-B4A386EF5E26}"/>
              </a:ext>
            </a:extLst>
          </p:cNvPr>
          <p:cNvSpPr txBox="1"/>
          <p:nvPr/>
        </p:nvSpPr>
        <p:spPr>
          <a:xfrm>
            <a:off x="548640" y="320040"/>
            <a:ext cx="55336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Prioriti</a:t>
            </a:r>
            <a:r>
              <a:rPr lang="en-US" sz="2800" dirty="0"/>
              <a:t>z</a:t>
            </a:r>
            <a:r>
              <a:rPr sz="2800" dirty="0"/>
              <a:t>ed Improvement Backlog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D23BF6-428B-3BC2-6E6F-4191B73363E5}"/>
              </a:ext>
            </a:extLst>
          </p:cNvPr>
          <p:cNvSpPr txBox="1"/>
          <p:nvPr/>
        </p:nvSpPr>
        <p:spPr>
          <a:xfrm>
            <a:off x="566928" y="841248"/>
            <a:ext cx="541622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sz="1200" dirty="0"/>
              <a:t>Six improvements translated the Lean diagnosis into actionable delivery scope</a:t>
            </a:r>
            <a:r>
              <a:rPr dirty="0"/>
              <a:t>.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47B7866-040B-251F-292F-0BE0D77D6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67446"/>
              </p:ext>
            </p:extLst>
          </p:nvPr>
        </p:nvGraphicFramePr>
        <p:xfrm>
          <a:off x="376518" y="1647148"/>
          <a:ext cx="11438964" cy="4369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329">
                  <a:extLst>
                    <a:ext uri="{9D8B030D-6E8A-4147-A177-3AD203B41FA5}">
                      <a16:colId xmlns:a16="http://schemas.microsoft.com/office/drawing/2014/main" val="3394653915"/>
                    </a:ext>
                  </a:extLst>
                </a:gridCol>
                <a:gridCol w="2651545">
                  <a:extLst>
                    <a:ext uri="{9D8B030D-6E8A-4147-A177-3AD203B41FA5}">
                      <a16:colId xmlns:a16="http://schemas.microsoft.com/office/drawing/2014/main" val="1355480476"/>
                    </a:ext>
                  </a:extLst>
                </a:gridCol>
                <a:gridCol w="2651545">
                  <a:extLst>
                    <a:ext uri="{9D8B030D-6E8A-4147-A177-3AD203B41FA5}">
                      <a16:colId xmlns:a16="http://schemas.microsoft.com/office/drawing/2014/main" val="2119356151"/>
                    </a:ext>
                  </a:extLst>
                </a:gridCol>
                <a:gridCol w="2651545">
                  <a:extLst>
                    <a:ext uri="{9D8B030D-6E8A-4147-A177-3AD203B41FA5}">
                      <a16:colId xmlns:a16="http://schemas.microsoft.com/office/drawing/2014/main" val="4057006576"/>
                    </a:ext>
                  </a:extLst>
                </a:gridCol>
              </a:tblGrid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961137"/>
                  </a:ext>
                </a:extLst>
              </a:tr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Unified status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Reduce status search effort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066799"/>
                  </a:ext>
                </a:extLst>
              </a:tr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Status 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Improve information 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244268"/>
                  </a:ext>
                </a:extLst>
              </a:tr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Automated 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Reduce manual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745823"/>
                  </a:ext>
                </a:extLst>
              </a:tr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Handoff &amp; ownership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Reduce delays / ambiguity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630329"/>
                  </a:ext>
                </a:extLst>
              </a:tr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Proactive status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Reduce repeat contacts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403655"/>
                  </a:ext>
                </a:extLst>
              </a:tr>
              <a:tr h="6242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Standardized request intake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Reduce incomplete requests / rework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369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0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5299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Agile / Jira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575644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dirty="0"/>
              <a:t>The prioriti</a:t>
            </a:r>
            <a:r>
              <a:rPr lang="en-US" dirty="0"/>
              <a:t>z</a:t>
            </a:r>
            <a:r>
              <a:rPr dirty="0"/>
              <a:t>ed improvements were translated into an </a:t>
            </a:r>
            <a:r>
              <a:rPr sz="1200" dirty="0"/>
              <a:t>executable</a:t>
            </a:r>
            <a:r>
              <a:rPr dirty="0"/>
              <a:t> Scrum structure.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895D6A-0AFF-A7CB-1BA3-E988F18CCD3F}"/>
              </a:ext>
            </a:extLst>
          </p:cNvPr>
          <p:cNvGrpSpPr/>
          <p:nvPr/>
        </p:nvGrpSpPr>
        <p:grpSpPr>
          <a:xfrm>
            <a:off x="586740" y="1800130"/>
            <a:ext cx="11018520" cy="4572000"/>
            <a:chOff x="594360" y="1371600"/>
            <a:chExt cx="11018520" cy="4572000"/>
          </a:xfrm>
        </p:grpSpPr>
        <p:sp>
          <p:nvSpPr>
            <p:cNvPr id="4" name="Rounded Rectangle 3"/>
            <p:cNvSpPr/>
            <p:nvPr/>
          </p:nvSpPr>
          <p:spPr>
            <a:xfrm>
              <a:off x="594360" y="1371600"/>
              <a:ext cx="2834640" cy="155448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8952" y="1508760"/>
              <a:ext cx="25054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Epic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58952" y="1965959"/>
              <a:ext cx="25054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Customer Request Status Improvement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03320" y="1371600"/>
              <a:ext cx="2834640" cy="155448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867911" y="1508760"/>
              <a:ext cx="25054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6 User Stories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67911" y="1965959"/>
              <a:ext cx="26054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Status view • data integration • verification • ownership • notifications • intake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812280" y="1371600"/>
              <a:ext cx="2834640" cy="155448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76872" y="1508760"/>
              <a:ext cx="25054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25 Jira work items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76872" y="1995568"/>
              <a:ext cx="2571986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Epic + stories + supporting subtasks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921240" y="1371600"/>
              <a:ext cx="1691640" cy="155448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85832" y="1508760"/>
              <a:ext cx="136245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Scrum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85832" y="1996217"/>
              <a:ext cx="1267398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Sprint planning</a:t>
              </a:r>
              <a:br>
                <a:rPr sz="1200" dirty="0"/>
              </a:br>
              <a:r>
                <a:rPr lang="en-US" sz="1200" dirty="0"/>
                <a:t>Sprint </a:t>
              </a:r>
              <a:r>
                <a:rPr sz="1200" dirty="0"/>
                <a:t>Execution</a:t>
              </a:r>
              <a:br>
                <a:rPr sz="1200" dirty="0"/>
              </a:br>
              <a:r>
                <a:rPr lang="en-US" sz="1200" dirty="0"/>
                <a:t>Sprint </a:t>
              </a:r>
              <a:r>
                <a:rPr sz="1200" dirty="0"/>
                <a:t>Review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94360" y="3474720"/>
              <a:ext cx="5257800" cy="155448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8952" y="3611879"/>
              <a:ext cx="492861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Sprint 2 — delivery evidence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29137" y="4132103"/>
              <a:ext cx="3188245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18 story points committed → 18 completed</a:t>
              </a:r>
              <a:br>
                <a:rPr sz="1200" dirty="0"/>
              </a:br>
              <a:r>
                <a:rPr sz="1200" dirty="0"/>
                <a:t>Velocity report retained as portfolio evidence.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080760" y="3474720"/>
              <a:ext cx="5532120" cy="155448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45352" y="3611879"/>
              <a:ext cx="520293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Execution workflow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24782" y="4171177"/>
              <a:ext cx="3644075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To Do → In Progress → In Review → Done</a:t>
              </a:r>
              <a:br>
                <a:rPr sz="1200" dirty="0"/>
              </a:br>
              <a:r>
                <a:rPr sz="1200" dirty="0"/>
                <a:t>Subtasks used to break stories into actionable work.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5800" y="5440680"/>
              <a:ext cx="10789920" cy="5029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50" b="1">
                  <a:solidFill>
                    <a:srgbClr val="194833"/>
                  </a:solidFill>
                  <a:latin typeface="Aptos"/>
                </a:defRPr>
              </a:pPr>
              <a:r>
                <a:t>Evidence retained: Jira work-item lists • Scrum status • Velocity report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461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SDLC Delivery &amp; PM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2757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sz="1200" dirty="0"/>
              <a:t>SDLC </a:t>
            </a:r>
            <a:r>
              <a:rPr lang="en-US" sz="1200" dirty="0"/>
              <a:t>governance mapped</a:t>
            </a:r>
            <a:r>
              <a:rPr sz="1200" dirty="0"/>
              <a:t> to the Project 02 delivery path, with Agile/Scrum </a:t>
            </a:r>
            <a:r>
              <a:rPr lang="en-US" sz="1200" dirty="0"/>
              <a:t>supporting </a:t>
            </a:r>
            <a:r>
              <a:rPr sz="1200" dirty="0"/>
              <a:t>incremental delivery.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5BC976D-92FC-8C51-1DB3-C8B78102C840}"/>
              </a:ext>
            </a:extLst>
          </p:cNvPr>
          <p:cNvGrpSpPr/>
          <p:nvPr/>
        </p:nvGrpSpPr>
        <p:grpSpPr>
          <a:xfrm>
            <a:off x="548640" y="1639455"/>
            <a:ext cx="11338560" cy="3520440"/>
            <a:chOff x="347472" y="1417320"/>
            <a:chExt cx="11338560" cy="3520440"/>
          </a:xfrm>
        </p:grpSpPr>
        <p:sp>
          <p:nvSpPr>
            <p:cNvPr id="4" name="Rounded Rectangle 3"/>
            <p:cNvSpPr/>
            <p:nvPr/>
          </p:nvSpPr>
          <p:spPr>
            <a:xfrm>
              <a:off x="347472" y="1417320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874519" y="2331720"/>
              <a:ext cx="91441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984248" y="1417320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3511296" y="2331720"/>
              <a:ext cx="91440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621024" y="1417320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148072" y="2331720"/>
              <a:ext cx="91440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257800" y="1443296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784848" y="2331720"/>
              <a:ext cx="91440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6894576" y="1417320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8421624" y="2331720"/>
              <a:ext cx="91440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8531352" y="1417320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0058400" y="2331720"/>
              <a:ext cx="91440" cy="0"/>
            </a:xfrm>
            <a:prstGeom prst="line">
              <a:avLst/>
            </a:prstGeom>
            <a:ln>
              <a:solidFill>
                <a:srgbClr val="5F5F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10168128" y="1417320"/>
              <a:ext cx="1517904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194833"/>
                  </a:solidFill>
                  <a:latin typeface="Aptos"/>
                </a:defRPr>
              </a:pPr>
              <a:endParaRPr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77240" y="3886200"/>
              <a:ext cx="10652760" cy="105156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41832" y="4023360"/>
              <a:ext cx="1032357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PM governance across the lifecycle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63169" y="4411617"/>
              <a:ext cx="8699689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b="1" dirty="0"/>
                <a:t>Scope &amp; backlog </a:t>
              </a:r>
              <a:r>
                <a:rPr sz="1200" b="1" dirty="0"/>
                <a:t>prioriti</a:t>
              </a:r>
              <a:r>
                <a:rPr lang="en-US" sz="1200" b="1" dirty="0"/>
                <a:t>z</a:t>
              </a:r>
              <a:r>
                <a:rPr sz="1200" b="1" dirty="0"/>
                <a:t>ation</a:t>
              </a:r>
              <a:r>
                <a:rPr b="1" dirty="0"/>
                <a:t> • RAID/dependencies • stakeholder reporting • quality gates • UAT readiness • release readiness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28BB87E-6489-50B1-11A7-0C78D95D3B2C}"/>
              </a:ext>
            </a:extLst>
          </p:cNvPr>
          <p:cNvSpPr txBox="1"/>
          <p:nvPr/>
        </p:nvSpPr>
        <p:spPr>
          <a:xfrm>
            <a:off x="644590" y="2250600"/>
            <a:ext cx="132600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Requirements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MVP scope</a:t>
            </a:r>
            <a:br>
              <a:rPr lang="en-IN" dirty="0"/>
            </a:br>
            <a:r>
              <a:rPr lang="en-IN" dirty="0"/>
              <a:t>Acceptance criteria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C9E968-6E38-968D-BEDA-05032256DD40}"/>
              </a:ext>
            </a:extLst>
          </p:cNvPr>
          <p:cNvSpPr txBox="1"/>
          <p:nvPr/>
        </p:nvSpPr>
        <p:spPr>
          <a:xfrm>
            <a:off x="2217892" y="2236086"/>
            <a:ext cx="1435136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Analysis &amp; Design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Journey + VSM</a:t>
            </a:r>
            <a:br>
              <a:rPr lang="en-IN" dirty="0"/>
            </a:br>
            <a:r>
              <a:rPr lang="en-IN" dirty="0"/>
              <a:t>Future-state design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867A4F-1851-28A7-33D7-0E1A45FDAC68}"/>
              </a:ext>
            </a:extLst>
          </p:cNvPr>
          <p:cNvSpPr txBox="1"/>
          <p:nvPr/>
        </p:nvSpPr>
        <p:spPr>
          <a:xfrm>
            <a:off x="3993483" y="2250599"/>
            <a:ext cx="117532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Development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Jira backlog</a:t>
            </a:r>
            <a:br>
              <a:rPr lang="en-IN" dirty="0"/>
            </a:br>
            <a:r>
              <a:rPr lang="en-IN" dirty="0"/>
              <a:t>Sprint execution</a:t>
            </a:r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AFA1B-7FCB-7372-782E-4B4249307EE6}"/>
              </a:ext>
            </a:extLst>
          </p:cNvPr>
          <p:cNvSpPr txBox="1"/>
          <p:nvPr/>
        </p:nvSpPr>
        <p:spPr>
          <a:xfrm>
            <a:off x="5580982" y="2221572"/>
            <a:ext cx="1273875" cy="1223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Testing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Integration + </a:t>
            </a:r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verification</a:t>
            </a:r>
            <a:br>
              <a:rPr lang="en-IN" dirty="0"/>
            </a:br>
            <a:r>
              <a:rPr lang="en-IN" dirty="0"/>
              <a:t>Validation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5DAE97-E09D-AA0A-39E7-A2D5A5AE2477}"/>
              </a:ext>
            </a:extLst>
          </p:cNvPr>
          <p:cNvSpPr txBox="1"/>
          <p:nvPr/>
        </p:nvSpPr>
        <p:spPr>
          <a:xfrm>
            <a:off x="7135589" y="2221572"/>
            <a:ext cx="143821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UAT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Business acceptance</a:t>
            </a:r>
            <a:br>
              <a:rPr lang="en-IN" dirty="0"/>
            </a:br>
            <a:r>
              <a:rPr lang="en-IN" dirty="0"/>
              <a:t>MVP readiness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068513-6EA7-96A4-077D-97028B297D95}"/>
              </a:ext>
            </a:extLst>
          </p:cNvPr>
          <p:cNvSpPr txBox="1"/>
          <p:nvPr/>
        </p:nvSpPr>
        <p:spPr>
          <a:xfrm>
            <a:off x="8838504" y="2221570"/>
            <a:ext cx="130593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Deployment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Release readiness</a:t>
            </a:r>
            <a:br>
              <a:rPr lang="en-IN" dirty="0"/>
            </a:br>
            <a:r>
              <a:rPr lang="en-IN" dirty="0"/>
              <a:t>Approvals</a:t>
            </a: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56FFA-9B89-3A09-19ED-57B9EF05DC8E}"/>
              </a:ext>
            </a:extLst>
          </p:cNvPr>
          <p:cNvSpPr txBox="1"/>
          <p:nvPr/>
        </p:nvSpPr>
        <p:spPr>
          <a:xfrm>
            <a:off x="10528179" y="2221570"/>
            <a:ext cx="120013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r>
              <a:rPr lang="en-IN" dirty="0"/>
              <a:t>Hypercare</a:t>
            </a:r>
          </a:p>
          <a:p>
            <a:pPr algn="ctr">
              <a:defRPr sz="1200" b="1">
                <a:solidFill>
                  <a:srgbClr val="194833"/>
                </a:solidFill>
                <a:latin typeface="Aptos"/>
              </a:defRPr>
            </a:pPr>
            <a:endParaRPr lang="en-IN" dirty="0"/>
          </a:p>
          <a:p>
            <a:pPr algn="ctr">
              <a:defRPr sz="1050">
                <a:solidFill>
                  <a:srgbClr val="414141"/>
                </a:solidFill>
                <a:latin typeface="Aptos"/>
              </a:defRPr>
            </a:pPr>
            <a:r>
              <a:rPr lang="en-IN" dirty="0"/>
              <a:t>Issue monitoring</a:t>
            </a:r>
            <a:br>
              <a:rPr lang="en-IN" dirty="0"/>
            </a:br>
            <a:r>
              <a:rPr lang="en-IN" dirty="0"/>
              <a:t>Handover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0902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4833"/>
                </a:solidFill>
                <a:latin typeface="Aptos"/>
              </a:defRPr>
            </a:pPr>
            <a:r>
              <a:rPr sz="2800" dirty="0"/>
              <a:t>Outcome &amp; PM Capabilities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64102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969"/>
                </a:solidFill>
                <a:latin typeface="Aptos"/>
              </a:defRPr>
            </a:pPr>
            <a:r>
              <a:rPr sz="1200" dirty="0"/>
              <a:t>A single case study showing end-to-end process improvement and digital delivery governance.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0A872B-6BA1-31B5-3351-EEC6D3187B50}"/>
              </a:ext>
            </a:extLst>
          </p:cNvPr>
          <p:cNvGrpSpPr/>
          <p:nvPr/>
        </p:nvGrpSpPr>
        <p:grpSpPr>
          <a:xfrm>
            <a:off x="655320" y="1874520"/>
            <a:ext cx="10881359" cy="4663440"/>
            <a:chOff x="594360" y="1325880"/>
            <a:chExt cx="10881359" cy="4663440"/>
          </a:xfrm>
        </p:grpSpPr>
        <p:sp>
          <p:nvSpPr>
            <p:cNvPr id="4" name="Rounded Rectangle 3"/>
            <p:cNvSpPr/>
            <p:nvPr/>
          </p:nvSpPr>
          <p:spPr>
            <a:xfrm>
              <a:off x="594360" y="1325880"/>
              <a:ext cx="3429000" cy="182880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8952" y="1463039"/>
              <a:ext cx="213128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rPr dirty="0"/>
                <a:t>Measured </a:t>
              </a:r>
              <a:r>
                <a:rPr lang="en-US" dirty="0"/>
                <a:t>Improvement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58952" y="1856231"/>
              <a:ext cx="2232406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92 min current lead time</a:t>
              </a:r>
              <a:br>
                <a:rPr sz="1200" dirty="0"/>
              </a:br>
              <a:r>
                <a:rPr sz="1200" dirty="0"/>
                <a:t>→ 54 min future-state lead time</a:t>
              </a:r>
              <a:br>
                <a:rPr sz="1200" dirty="0"/>
              </a:br>
              <a:br>
                <a:rPr sz="1200" dirty="0"/>
              </a:br>
              <a:r>
                <a:rPr sz="1200" dirty="0"/>
                <a:t>A3 target: ≤65 min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51960" y="1325880"/>
              <a:ext cx="3429000" cy="1828800"/>
            </a:xfrm>
            <a:prstGeom prst="roundRect">
              <a:avLst/>
            </a:prstGeom>
            <a:solidFill>
              <a:srgbClr val="DEE7D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16552" y="1463039"/>
              <a:ext cx="309981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Lean + Agile integration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16552" y="1856231"/>
              <a:ext cx="2463623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 dirty="0"/>
                <a:t>Customer Journey Mapping</a:t>
              </a:r>
              <a:br>
                <a:rPr sz="1200" dirty="0"/>
              </a:br>
              <a:r>
                <a:rPr sz="1200" dirty="0"/>
                <a:t>VSM • Waste analysis • A3</a:t>
              </a:r>
              <a:br>
                <a:rPr sz="1200" dirty="0"/>
              </a:br>
              <a:r>
                <a:rPr sz="1200" dirty="0"/>
                <a:t>Improvement backlog • Scrum/Jira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909560" y="1325880"/>
              <a:ext cx="3429000" cy="1828800"/>
            </a:xfrm>
            <a:prstGeom prst="roundRect">
              <a:avLst/>
            </a:prstGeom>
            <a:solidFill>
              <a:srgbClr val="EDE7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74152" y="1463039"/>
              <a:ext cx="309981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94833"/>
                  </a:solidFill>
                  <a:latin typeface="Aptos"/>
                </a:defRPr>
              </a:pPr>
              <a:r>
                <a:t>Digital delivery governance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074152" y="1856231"/>
              <a:ext cx="2469459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50">
                  <a:solidFill>
                    <a:srgbClr val="414141"/>
                  </a:solidFill>
                  <a:latin typeface="Aptos"/>
                </a:defRPr>
              </a:pPr>
              <a:r>
                <a:rPr sz="1200"/>
                <a:t>MVP scope</a:t>
              </a:r>
              <a:br>
                <a:rPr sz="1200"/>
              </a:br>
              <a:r>
                <a:rPr sz="1200"/>
                <a:t>SDLC lifecycle</a:t>
              </a:r>
              <a:br>
                <a:rPr sz="1200"/>
              </a:br>
              <a:r>
                <a:rPr sz="1200"/>
                <a:t>Testing/UAT/release readiness</a:t>
              </a:r>
              <a:br>
                <a:rPr sz="1200"/>
              </a:br>
              <a:r>
                <a:rPr sz="1200"/>
                <a:t>Stakeholder &amp; delivery governance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5800" y="379476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Project planning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474720" y="379476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Process improvement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379476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Lean Six Sigma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052559" y="379476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A3 problem solving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85800" y="457200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Agile / Scrum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474720" y="457200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Jira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63640" y="457200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SDLC governance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052559" y="4572000"/>
              <a:ext cx="2423160" cy="502920"/>
            </a:xfrm>
            <a:prstGeom prst="roundRect">
              <a:avLst/>
            </a:prstGeom>
            <a:solidFill>
              <a:srgbClr val="1948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50" b="1">
                  <a:solidFill>
                    <a:srgbClr val="FFFFFF"/>
                  </a:solidFill>
                  <a:latin typeface="Aptos"/>
                </a:defRPr>
              </a:pPr>
              <a:r>
                <a:t>PMO governance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5800" y="5532120"/>
              <a:ext cx="1069848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 i="1">
                  <a:solidFill>
                    <a:srgbClr val="696969"/>
                  </a:solidFill>
                  <a:latin typeface="Aptos"/>
                </a:defRPr>
              </a:pPr>
              <a:r>
                <a:rPr dirty="0"/>
                <a:t>Simulated portfolio case study — evidence and assumptions are explicitly presented as a PM practice project.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696</Words>
  <Application>Microsoft Macintosh PowerPoint</Application>
  <PresentationFormat>Widescreen</PresentationFormat>
  <Paragraphs>146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Rinku KS</cp:lastModifiedBy>
  <cp:revision>9</cp:revision>
  <dcterms:created xsi:type="dcterms:W3CDTF">2013-01-27T09:14:16Z</dcterms:created>
  <dcterms:modified xsi:type="dcterms:W3CDTF">2026-08-16T16:11:33Z</dcterms:modified>
  <cp:category/>
</cp:coreProperties>
</file>