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6762"/>
    <a:srgbClr val="285943"/>
    <a:srgbClr val="F5F1E8"/>
    <a:srgbClr val="F7A8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16"/>
    <p:restoredTop sz="94679"/>
  </p:normalViewPr>
  <p:slideViewPr>
    <p:cSldViewPr snapToGrid="0">
      <p:cViewPr varScale="1">
        <p:scale>
          <a:sx n="88" d="100"/>
          <a:sy n="88" d="100"/>
        </p:scale>
        <p:origin x="6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8986D-5757-B26D-F1C3-0E0264429E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16F445-09F0-802B-A956-D2342CE051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D75F9-AAEC-3F1F-00F4-5CD1B3BCB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D4544-1740-8847-B2B2-FEDF2A249F68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0F646-4DDC-6578-7761-79D74A37D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F5AD4-293C-1FEA-729B-7F2EEBD57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6393-C09B-D44E-9EC6-BC2D2DE3F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19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FC08B-9CA3-D460-8A2E-C602606CF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BE08F-B873-EF0E-EFB0-6049C911E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ED05D1-90A6-F6AB-2E57-3F0651A35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D4544-1740-8847-B2B2-FEDF2A249F68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FD562-9698-01B0-03E3-744DE7B2A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B22F38-C600-2225-6001-BA94BE5CF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6393-C09B-D44E-9EC6-BC2D2DE3F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573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DDB3A-C943-CB45-BA21-4DF881749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E51E8D-6543-2852-A3B9-50F079603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EC797-8582-5D32-B07D-2FEB47613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D4544-1740-8847-B2B2-FEDF2A249F68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00F26-1BF5-4762-8838-502282162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E5D0F-9D31-239A-8AAE-151CD2D5D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6393-C09B-D44E-9EC6-BC2D2DE3F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85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4584A-FAC8-9661-69A4-171AB3AB2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F76B4-13E7-CC71-75E9-F9052A1E78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A8A75F-E2BE-784C-7A1B-29AAA9E7F8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F433B-4C90-C66B-9AC2-5B49BBE51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D4544-1740-8847-B2B2-FEDF2A249F68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343E1F-FF0A-6E0F-987B-D383E073D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7969DC-65D0-2B6A-CB50-363A8AE47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6393-C09B-D44E-9EC6-BC2D2DE3F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932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4FA41-EE2F-367B-56F1-5EAA81472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99D7F5-C1CE-76E0-6277-6BAA8A3AA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C631F4-4E07-BB4E-3EFE-E45EA445D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258EB9-3BD2-C22F-E0A2-A3CF962B7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C8A956-92EA-13CD-9250-B192AD5825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24B9C8-1CC8-60A7-C02C-6FD1AFE7A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D4544-1740-8847-B2B2-FEDF2A249F68}" type="datetimeFigureOut">
              <a:rPr lang="en-US" smtClean="0"/>
              <a:t>8/16/26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4047ED-DBA1-AEB2-2489-DDAE1F13B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CC5C93-519C-00BC-1830-3D5F7E818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6393-C09B-D44E-9EC6-BC2D2DE3F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435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BBDAE-8BE2-F61C-0DDF-74B4CA231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4D0DCC-CFE0-2A73-578B-5839F799A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D4544-1740-8847-B2B2-FEDF2A249F68}" type="datetimeFigureOut">
              <a:rPr lang="en-US" smtClean="0"/>
              <a:t>8/16/26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397CEA-4112-D3A7-0D18-5D7727DB1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267EC0-BC70-56AD-E4D6-F82A71C64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6393-C09B-D44E-9EC6-BC2D2DE3F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83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2A55C6-C1E9-044C-1E2D-F2EBF8E83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D4544-1740-8847-B2B2-FEDF2A249F68}" type="datetimeFigureOut">
              <a:rPr lang="en-US" smtClean="0"/>
              <a:t>8/16/26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C12262-9CA0-31A2-9856-950639EC5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5019FA-EE3F-92F1-377C-BA4E88806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6393-C09B-D44E-9EC6-BC2D2DE3F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350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7D3A1-0C0F-8C9D-32DE-D857F9E3B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B5E99-6690-3BC5-DFEF-A15A898AB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A6AF1-29F2-D4FD-C644-73C72D0D1E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348619-B573-F2D4-DA8D-5E72F041D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D4544-1740-8847-B2B2-FEDF2A249F68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2628F8-CE1B-A982-C290-210C9CCDE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818A6-60ED-4F4D-AACC-4B626B9B9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6393-C09B-D44E-9EC6-BC2D2DE3F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6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67F1F-86DB-2C1B-D0C0-5D822A5A2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3A426A-B358-6ECF-6AE9-DF7F9A06E3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ACFF9A-5361-37E1-A69D-E40742DB2A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A8B45E-6B10-C961-3018-58A42BE40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D4544-1740-8847-B2B2-FEDF2A249F68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C6585E-7DDC-4263-74A4-440FF6A40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612F63-9C0B-34F3-1EE0-BF967EF2C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6393-C09B-D44E-9EC6-BC2D2DE3F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060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A854F-661B-AD3E-38B5-08A8E458C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157DCF-3735-B394-FC84-D1B1CE08B9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20E69-A6FB-6638-FE00-A0972631C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D4544-1740-8847-B2B2-FEDF2A249F68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1DDEB5-6F31-0824-3FC4-3C07C661F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FAD81-0F4E-E0D9-9F97-C67144F46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6393-C09B-D44E-9EC6-BC2D2DE3F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241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33700D-1889-F7DC-D6BD-8A3E3EF027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785631-5AB6-B923-3445-AC39EFF190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DDE4FB-94DF-3312-ADE3-9BFF2F435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D4544-1740-8847-B2B2-FEDF2A249F68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F2370-C7D4-DB18-FFCA-31EBCA500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BAB9C-B770-29F1-4D15-317028775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B6393-C09B-D44E-9EC6-BC2D2DE3F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112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D35F97-7E5E-C826-6C72-276EB0A9E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79B41E-C169-7E28-B153-332261E13B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0ED86-EF89-992B-8A80-AFCFA3058C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9D4544-1740-8847-B2B2-FEDF2A249F68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457CD-D263-52CB-859F-3933D37072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1C16C-E7A3-F26B-6C6B-72599B9ED6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DB6393-C09B-D44E-9EC6-BC2D2DE3F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010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757761-9322-BF6E-2544-B4E665788C0D}"/>
              </a:ext>
            </a:extLst>
          </p:cNvPr>
          <p:cNvSpPr txBox="1"/>
          <p:nvPr/>
        </p:nvSpPr>
        <p:spPr>
          <a:xfrm>
            <a:off x="333828" y="275772"/>
            <a:ext cx="65494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285943"/>
                </a:solidFill>
              </a:rPr>
              <a:t>Current-State Value Stream Map (VSM)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4A017A-237D-2B88-D2BC-AFAC7FC7886C}"/>
              </a:ext>
            </a:extLst>
          </p:cNvPr>
          <p:cNvSpPr txBox="1"/>
          <p:nvPr/>
        </p:nvSpPr>
        <p:spPr>
          <a:xfrm>
            <a:off x="472336" y="785761"/>
            <a:ext cx="4841454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3D3D3D"/>
                </a:solidFill>
              </a:rPr>
              <a:t>Scenario: Customer requests an update on an existing service/request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A3E795-0FDE-99D0-6BE1-2A773DD8A8F9}"/>
              </a:ext>
            </a:extLst>
          </p:cNvPr>
          <p:cNvSpPr txBox="1"/>
          <p:nvPr/>
        </p:nvSpPr>
        <p:spPr>
          <a:xfrm>
            <a:off x="6883313" y="293870"/>
            <a:ext cx="4329374" cy="461665"/>
          </a:xfrm>
          <a:prstGeom prst="rect">
            <a:avLst/>
          </a:prstGeom>
          <a:noFill/>
          <a:ln w="31750">
            <a:solidFill>
              <a:schemeClr val="accent2">
                <a:alpha val="18713"/>
              </a:schemeClr>
            </a:solidFill>
            <a:prstDash val="dash"/>
          </a:ln>
          <a:effectLst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3D3D3D"/>
                </a:solidFill>
              </a:rPr>
              <a:t>Purpose: To visualize the end-to-end process, information flow, delays and waste in the current state.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5A1AEE1-7CC9-F99B-DF0C-E95C682C6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371" y="1308981"/>
            <a:ext cx="635000" cy="635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AAB59E50-138A-5CBF-BDA7-5F5C1E137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7687" y="1308981"/>
            <a:ext cx="635000" cy="635000"/>
          </a:xfrm>
          <a:prstGeom prst="rect">
            <a:avLst/>
          </a:prstGeom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E5897E8-F2AA-8FF3-D1E0-F3B8E3FE04B9}"/>
              </a:ext>
            </a:extLst>
          </p:cNvPr>
          <p:cNvCxnSpPr>
            <a:cxnSpLocks/>
          </p:cNvCxnSpPr>
          <p:nvPr/>
        </p:nvCxnSpPr>
        <p:spPr>
          <a:xfrm>
            <a:off x="1188880" y="1556701"/>
            <a:ext cx="9231086" cy="0"/>
          </a:xfrm>
          <a:prstGeom prst="straightConnector1">
            <a:avLst/>
          </a:prstGeom>
          <a:ln>
            <a:solidFill>
              <a:srgbClr val="285943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F2FD22F-EC3F-200D-6050-A297043CC583}"/>
              </a:ext>
            </a:extLst>
          </p:cNvPr>
          <p:cNvSpPr txBox="1"/>
          <p:nvPr/>
        </p:nvSpPr>
        <p:spPr>
          <a:xfrm>
            <a:off x="5273595" y="1204624"/>
            <a:ext cx="16448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285943"/>
                </a:solidFill>
              </a:rPr>
              <a:t>INFORMATION FLOW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9C2EE40-D65B-E745-FC33-DC052AC13D4F}"/>
              </a:ext>
            </a:extLst>
          </p:cNvPr>
          <p:cNvSpPr/>
          <p:nvPr/>
        </p:nvSpPr>
        <p:spPr>
          <a:xfrm>
            <a:off x="1282763" y="1583711"/>
            <a:ext cx="1637984" cy="684363"/>
          </a:xfrm>
          <a:prstGeom prst="rect">
            <a:avLst/>
          </a:prstGeom>
          <a:noFill/>
          <a:ln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686762"/>
                </a:solidFill>
              </a:rPr>
              <a:t>phone/email/chat portal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29D710F-E90B-07A5-95B9-E6926A903314}"/>
              </a:ext>
            </a:extLst>
          </p:cNvPr>
          <p:cNvSpPr/>
          <p:nvPr/>
        </p:nvSpPr>
        <p:spPr>
          <a:xfrm>
            <a:off x="3714792" y="1624765"/>
            <a:ext cx="1637984" cy="684363"/>
          </a:xfrm>
          <a:prstGeom prst="rect">
            <a:avLst/>
          </a:prstGeom>
          <a:noFill/>
          <a:ln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686762"/>
                </a:solidFill>
              </a:rPr>
              <a:t>Support system</a:t>
            </a:r>
          </a:p>
          <a:p>
            <a:pPr algn="ctr"/>
            <a:r>
              <a:rPr lang="en-US" sz="1200" dirty="0">
                <a:solidFill>
                  <a:srgbClr val="686762"/>
                </a:solidFill>
              </a:rPr>
              <a:t>/CRM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9809B39-5CDB-ED03-0363-C75BDCB4559B}"/>
              </a:ext>
            </a:extLst>
          </p:cNvPr>
          <p:cNvSpPr/>
          <p:nvPr/>
        </p:nvSpPr>
        <p:spPr>
          <a:xfrm>
            <a:off x="6258822" y="1608568"/>
            <a:ext cx="1637984" cy="684363"/>
          </a:xfrm>
          <a:prstGeom prst="rect">
            <a:avLst/>
          </a:prstGeom>
          <a:noFill/>
          <a:ln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686762"/>
                </a:solidFill>
              </a:rPr>
              <a:t>Multiple Systems</a:t>
            </a:r>
          </a:p>
          <a:p>
            <a:pPr algn="ctr"/>
            <a:r>
              <a:rPr lang="en-US" sz="1200" dirty="0">
                <a:solidFill>
                  <a:srgbClr val="686762"/>
                </a:solidFill>
              </a:rPr>
              <a:t>(CRM, DB, Billing, KB)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31BA1AB-B30F-D83B-0A61-89EFBDAE5046}"/>
              </a:ext>
            </a:extLst>
          </p:cNvPr>
          <p:cNvSpPr/>
          <p:nvPr/>
        </p:nvSpPr>
        <p:spPr>
          <a:xfrm>
            <a:off x="8750092" y="1624764"/>
            <a:ext cx="1637984" cy="684363"/>
          </a:xfrm>
          <a:prstGeom prst="rect">
            <a:avLst/>
          </a:prstGeom>
          <a:noFill/>
          <a:ln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686762"/>
                </a:solidFill>
              </a:rPr>
              <a:t>Phone/Email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D74C893-85D8-2252-3F55-CD9CE0BCCA19}"/>
              </a:ext>
            </a:extLst>
          </p:cNvPr>
          <p:cNvSpPr/>
          <p:nvPr/>
        </p:nvSpPr>
        <p:spPr>
          <a:xfrm>
            <a:off x="1507608" y="2514600"/>
            <a:ext cx="914400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686762"/>
              </a:solidFill>
            </a:endParaRPr>
          </a:p>
          <a:p>
            <a:pPr algn="ctr"/>
            <a:r>
              <a:rPr lang="en-US" sz="1200" dirty="0">
                <a:solidFill>
                  <a:srgbClr val="686762"/>
                </a:solidFill>
              </a:rPr>
              <a:t>Request Received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D18ED49-898F-D331-CF80-A37339D9BC83}"/>
              </a:ext>
            </a:extLst>
          </p:cNvPr>
          <p:cNvSpPr/>
          <p:nvPr/>
        </p:nvSpPr>
        <p:spPr>
          <a:xfrm>
            <a:off x="2792096" y="2514600"/>
            <a:ext cx="914400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686762"/>
              </a:solidFill>
            </a:endParaRPr>
          </a:p>
          <a:p>
            <a:pPr algn="ctr"/>
            <a:r>
              <a:rPr lang="en-US" sz="1200" dirty="0">
                <a:solidFill>
                  <a:srgbClr val="686762"/>
                </a:solidFill>
              </a:rPr>
              <a:t>Customer Support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6BB6A97-9C80-F37F-94FA-CDEB2FAA6CD9}"/>
              </a:ext>
            </a:extLst>
          </p:cNvPr>
          <p:cNvSpPr/>
          <p:nvPr/>
        </p:nvSpPr>
        <p:spPr>
          <a:xfrm>
            <a:off x="4076584" y="2514600"/>
            <a:ext cx="964236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686762"/>
              </a:solidFill>
            </a:endParaRPr>
          </a:p>
          <a:p>
            <a:pPr algn="ctr"/>
            <a:r>
              <a:rPr lang="en-US" sz="1200" dirty="0">
                <a:solidFill>
                  <a:srgbClr val="686762"/>
                </a:solidFill>
              </a:rPr>
              <a:t>Verification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0518028-047D-0241-73A1-F41BD881C5CB}"/>
              </a:ext>
            </a:extLst>
          </p:cNvPr>
          <p:cNvSpPr/>
          <p:nvPr/>
        </p:nvSpPr>
        <p:spPr>
          <a:xfrm>
            <a:off x="5361072" y="2514600"/>
            <a:ext cx="914400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686762"/>
              </a:solidFill>
            </a:endParaRPr>
          </a:p>
          <a:p>
            <a:pPr algn="ctr"/>
            <a:r>
              <a:rPr lang="en-US" sz="1200" dirty="0">
                <a:solidFill>
                  <a:srgbClr val="686762"/>
                </a:solidFill>
              </a:rPr>
              <a:t>Status search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246FB32-414B-3B6E-4344-62002141294A}"/>
              </a:ext>
            </a:extLst>
          </p:cNvPr>
          <p:cNvSpPr/>
          <p:nvPr/>
        </p:nvSpPr>
        <p:spPr>
          <a:xfrm>
            <a:off x="6645560" y="2514600"/>
            <a:ext cx="914400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686762"/>
              </a:solidFill>
            </a:endParaRPr>
          </a:p>
          <a:p>
            <a:pPr algn="ctr"/>
            <a:r>
              <a:rPr lang="en-US" sz="1200" dirty="0">
                <a:solidFill>
                  <a:srgbClr val="686762"/>
                </a:solidFill>
              </a:rPr>
              <a:t>Status Update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F42129C-84F0-5BF4-F95B-48AA12E9D6D6}"/>
              </a:ext>
            </a:extLst>
          </p:cNvPr>
          <p:cNvSpPr/>
          <p:nvPr/>
        </p:nvSpPr>
        <p:spPr>
          <a:xfrm>
            <a:off x="7930048" y="2514600"/>
            <a:ext cx="914400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686762"/>
              </a:solidFill>
            </a:endParaRPr>
          </a:p>
          <a:p>
            <a:pPr algn="ctr"/>
            <a:r>
              <a:rPr lang="en-US" sz="1200" dirty="0">
                <a:solidFill>
                  <a:srgbClr val="686762"/>
                </a:solidFill>
              </a:rPr>
              <a:t>Follow-up</a:t>
            </a:r>
          </a:p>
          <a:p>
            <a:pPr algn="ctr"/>
            <a:r>
              <a:rPr lang="en-US" sz="1000" dirty="0">
                <a:solidFill>
                  <a:srgbClr val="686762"/>
                </a:solidFill>
              </a:rPr>
              <a:t>(If required)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55514D9-5E1D-EDA4-61C1-0FC7A7FA51BF}"/>
              </a:ext>
            </a:extLst>
          </p:cNvPr>
          <p:cNvSpPr/>
          <p:nvPr/>
        </p:nvSpPr>
        <p:spPr>
          <a:xfrm>
            <a:off x="9214536" y="2514600"/>
            <a:ext cx="914400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686762"/>
              </a:solidFill>
            </a:endParaRPr>
          </a:p>
          <a:p>
            <a:pPr algn="ctr"/>
            <a:r>
              <a:rPr lang="en-US" sz="1200" dirty="0">
                <a:solidFill>
                  <a:srgbClr val="686762"/>
                </a:solidFill>
              </a:rPr>
              <a:t>Customer Updated</a:t>
            </a:r>
          </a:p>
        </p:txBody>
      </p:sp>
      <p:sp>
        <p:nvSpPr>
          <p:cNvPr id="51" name="Dodecagon 50">
            <a:extLst>
              <a:ext uri="{FF2B5EF4-FFF2-40B4-BE49-F238E27FC236}">
                <a16:creationId xmlns:a16="http://schemas.microsoft.com/office/drawing/2014/main" id="{9369EF52-3AB4-D23C-0CEE-D6983C2F6FFF}"/>
              </a:ext>
            </a:extLst>
          </p:cNvPr>
          <p:cNvSpPr/>
          <p:nvPr/>
        </p:nvSpPr>
        <p:spPr>
          <a:xfrm>
            <a:off x="1827861" y="2583542"/>
            <a:ext cx="273894" cy="273894"/>
          </a:xfrm>
          <a:prstGeom prst="dodecagon">
            <a:avLst/>
          </a:prstGeom>
          <a:solidFill>
            <a:srgbClr val="2859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>
                    <a:alpha val="69965"/>
                  </a:schemeClr>
                </a:solidFill>
              </a:rPr>
              <a:t>1</a:t>
            </a:r>
          </a:p>
        </p:txBody>
      </p:sp>
      <p:sp>
        <p:nvSpPr>
          <p:cNvPr id="58" name="Dodecagon 57">
            <a:extLst>
              <a:ext uri="{FF2B5EF4-FFF2-40B4-BE49-F238E27FC236}">
                <a16:creationId xmlns:a16="http://schemas.microsoft.com/office/drawing/2014/main" id="{54FDF8D8-296E-FB1E-9DC7-3278969D27B8}"/>
              </a:ext>
            </a:extLst>
          </p:cNvPr>
          <p:cNvSpPr/>
          <p:nvPr/>
        </p:nvSpPr>
        <p:spPr>
          <a:xfrm>
            <a:off x="3112349" y="2583542"/>
            <a:ext cx="273894" cy="273894"/>
          </a:xfrm>
          <a:prstGeom prst="dodecagon">
            <a:avLst/>
          </a:prstGeom>
          <a:solidFill>
            <a:srgbClr val="2859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>
                    <a:alpha val="70424"/>
                  </a:schemeClr>
                </a:solidFill>
              </a:rPr>
              <a:t>2</a:t>
            </a:r>
          </a:p>
        </p:txBody>
      </p:sp>
      <p:sp>
        <p:nvSpPr>
          <p:cNvPr id="59" name="Dodecagon 58">
            <a:extLst>
              <a:ext uri="{FF2B5EF4-FFF2-40B4-BE49-F238E27FC236}">
                <a16:creationId xmlns:a16="http://schemas.microsoft.com/office/drawing/2014/main" id="{4D260DED-26E3-F939-03AF-FC2570E50E3E}"/>
              </a:ext>
            </a:extLst>
          </p:cNvPr>
          <p:cNvSpPr/>
          <p:nvPr/>
        </p:nvSpPr>
        <p:spPr>
          <a:xfrm>
            <a:off x="4396837" y="2583542"/>
            <a:ext cx="273894" cy="273894"/>
          </a:xfrm>
          <a:prstGeom prst="dodecagon">
            <a:avLst/>
          </a:prstGeom>
          <a:solidFill>
            <a:srgbClr val="2859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>
                    <a:alpha val="70424"/>
                  </a:schemeClr>
                </a:solidFill>
              </a:rPr>
              <a:t>3</a:t>
            </a:r>
          </a:p>
        </p:txBody>
      </p:sp>
      <p:sp>
        <p:nvSpPr>
          <p:cNvPr id="60" name="Dodecagon 59">
            <a:extLst>
              <a:ext uri="{FF2B5EF4-FFF2-40B4-BE49-F238E27FC236}">
                <a16:creationId xmlns:a16="http://schemas.microsoft.com/office/drawing/2014/main" id="{7CB2C4BE-2DD7-809A-40C3-B65B831D41AA}"/>
              </a:ext>
            </a:extLst>
          </p:cNvPr>
          <p:cNvSpPr/>
          <p:nvPr/>
        </p:nvSpPr>
        <p:spPr>
          <a:xfrm>
            <a:off x="5681325" y="2583542"/>
            <a:ext cx="273894" cy="273894"/>
          </a:xfrm>
          <a:prstGeom prst="dodecagon">
            <a:avLst/>
          </a:prstGeom>
          <a:solidFill>
            <a:srgbClr val="2859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>
                    <a:alpha val="70424"/>
                  </a:schemeClr>
                </a:solidFill>
              </a:rPr>
              <a:t>4</a:t>
            </a:r>
          </a:p>
        </p:txBody>
      </p:sp>
      <p:sp>
        <p:nvSpPr>
          <p:cNvPr id="61" name="Dodecagon 60">
            <a:extLst>
              <a:ext uri="{FF2B5EF4-FFF2-40B4-BE49-F238E27FC236}">
                <a16:creationId xmlns:a16="http://schemas.microsoft.com/office/drawing/2014/main" id="{67187A9C-F8DD-E80A-6EF3-9076D016C8CF}"/>
              </a:ext>
            </a:extLst>
          </p:cNvPr>
          <p:cNvSpPr/>
          <p:nvPr/>
        </p:nvSpPr>
        <p:spPr>
          <a:xfrm>
            <a:off x="6965813" y="2583542"/>
            <a:ext cx="273894" cy="273894"/>
          </a:xfrm>
          <a:prstGeom prst="dodecagon">
            <a:avLst/>
          </a:prstGeom>
          <a:solidFill>
            <a:srgbClr val="2859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>
                    <a:alpha val="70424"/>
                  </a:schemeClr>
                </a:solidFill>
              </a:rPr>
              <a:t>5</a:t>
            </a:r>
          </a:p>
        </p:txBody>
      </p:sp>
      <p:sp>
        <p:nvSpPr>
          <p:cNvPr id="62" name="Dodecagon 61">
            <a:extLst>
              <a:ext uri="{FF2B5EF4-FFF2-40B4-BE49-F238E27FC236}">
                <a16:creationId xmlns:a16="http://schemas.microsoft.com/office/drawing/2014/main" id="{73997060-E7CA-8BF9-1BAF-C17B73AAE7EE}"/>
              </a:ext>
            </a:extLst>
          </p:cNvPr>
          <p:cNvSpPr/>
          <p:nvPr/>
        </p:nvSpPr>
        <p:spPr>
          <a:xfrm>
            <a:off x="8250301" y="2583542"/>
            <a:ext cx="273894" cy="273894"/>
          </a:xfrm>
          <a:prstGeom prst="dodecagon">
            <a:avLst/>
          </a:prstGeom>
          <a:solidFill>
            <a:srgbClr val="2859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>
                    <a:alpha val="70424"/>
                  </a:schemeClr>
                </a:solidFill>
              </a:rPr>
              <a:t>6</a:t>
            </a:r>
          </a:p>
        </p:txBody>
      </p:sp>
      <p:sp>
        <p:nvSpPr>
          <p:cNvPr id="63" name="Dodecagon 62">
            <a:extLst>
              <a:ext uri="{FF2B5EF4-FFF2-40B4-BE49-F238E27FC236}">
                <a16:creationId xmlns:a16="http://schemas.microsoft.com/office/drawing/2014/main" id="{C43E1EE1-CD3B-ED2D-E353-1C3177E79B1E}"/>
              </a:ext>
            </a:extLst>
          </p:cNvPr>
          <p:cNvSpPr/>
          <p:nvPr/>
        </p:nvSpPr>
        <p:spPr>
          <a:xfrm>
            <a:off x="9534789" y="2583542"/>
            <a:ext cx="273894" cy="273894"/>
          </a:xfrm>
          <a:prstGeom prst="dodecagon">
            <a:avLst/>
          </a:prstGeom>
          <a:solidFill>
            <a:srgbClr val="2859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>
                    <a:alpha val="70424"/>
                  </a:schemeClr>
                </a:solidFill>
              </a:rPr>
              <a:t>7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602E01E-EBA8-81C0-B4CA-12BFE88E30FF}"/>
              </a:ext>
            </a:extLst>
          </p:cNvPr>
          <p:cNvCxnSpPr>
            <a:cxnSpLocks/>
          </p:cNvCxnSpPr>
          <p:nvPr/>
        </p:nvCxnSpPr>
        <p:spPr>
          <a:xfrm>
            <a:off x="1979121" y="2090588"/>
            <a:ext cx="0" cy="404686"/>
          </a:xfrm>
          <a:prstGeom prst="line">
            <a:avLst/>
          </a:prstGeom>
          <a:ln>
            <a:solidFill>
              <a:srgbClr val="68676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F93EBBAA-C17F-2B82-2038-6F03C54BD65B}"/>
              </a:ext>
            </a:extLst>
          </p:cNvPr>
          <p:cNvCxnSpPr>
            <a:cxnSpLocks/>
          </p:cNvCxnSpPr>
          <p:nvPr/>
        </p:nvCxnSpPr>
        <p:spPr>
          <a:xfrm>
            <a:off x="4533668" y="2124963"/>
            <a:ext cx="116" cy="356858"/>
          </a:xfrm>
          <a:prstGeom prst="line">
            <a:avLst/>
          </a:prstGeom>
          <a:ln>
            <a:solidFill>
              <a:srgbClr val="68676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DFC93FF-0B6B-6967-A70F-BBB6CD517EC2}"/>
              </a:ext>
            </a:extLst>
          </p:cNvPr>
          <p:cNvCxnSpPr>
            <a:cxnSpLocks/>
          </p:cNvCxnSpPr>
          <p:nvPr/>
        </p:nvCxnSpPr>
        <p:spPr>
          <a:xfrm>
            <a:off x="7093974" y="2106784"/>
            <a:ext cx="0" cy="375037"/>
          </a:xfrm>
          <a:prstGeom prst="line">
            <a:avLst/>
          </a:prstGeom>
          <a:ln>
            <a:solidFill>
              <a:srgbClr val="68676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B0AF6DF-876F-7D6D-03C8-C7A9FA8200DE}"/>
              </a:ext>
            </a:extLst>
          </p:cNvPr>
          <p:cNvCxnSpPr>
            <a:cxnSpLocks/>
          </p:cNvCxnSpPr>
          <p:nvPr/>
        </p:nvCxnSpPr>
        <p:spPr>
          <a:xfrm>
            <a:off x="9640672" y="2077135"/>
            <a:ext cx="0" cy="404686"/>
          </a:xfrm>
          <a:prstGeom prst="line">
            <a:avLst/>
          </a:prstGeom>
          <a:ln>
            <a:solidFill>
              <a:srgbClr val="68676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C9D31B00-0771-372A-F1B9-24A2B9F7E1AE}"/>
              </a:ext>
            </a:extLst>
          </p:cNvPr>
          <p:cNvSpPr txBox="1"/>
          <p:nvPr/>
        </p:nvSpPr>
        <p:spPr>
          <a:xfrm>
            <a:off x="116506" y="1856607"/>
            <a:ext cx="1180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Customer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5EF9B96-833D-A8D9-CC1F-D301843EA165}"/>
              </a:ext>
            </a:extLst>
          </p:cNvPr>
          <p:cNvSpPr txBox="1"/>
          <p:nvPr/>
        </p:nvSpPr>
        <p:spPr>
          <a:xfrm>
            <a:off x="10304769" y="1785573"/>
            <a:ext cx="1180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Customer</a:t>
            </a:r>
          </a:p>
        </p:txBody>
      </p:sp>
      <p:cxnSp>
        <p:nvCxnSpPr>
          <p:cNvPr id="75" name="Elbow Connector 74">
            <a:extLst>
              <a:ext uri="{FF2B5EF4-FFF2-40B4-BE49-F238E27FC236}">
                <a16:creationId xmlns:a16="http://schemas.microsoft.com/office/drawing/2014/main" id="{13520171-9371-1D5B-068C-554C24017E33}"/>
              </a:ext>
            </a:extLst>
          </p:cNvPr>
          <p:cNvCxnSpPr>
            <a:stCxn id="72" idx="2"/>
            <a:endCxn id="44" idx="1"/>
          </p:cNvCxnSpPr>
          <p:nvPr/>
        </p:nvCxnSpPr>
        <p:spPr>
          <a:xfrm rot="16200000" flipH="1">
            <a:off x="734336" y="2198527"/>
            <a:ext cx="745861" cy="80068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F1C2D96C-4EB5-71D9-0EB1-CD96B164F6DE}"/>
              </a:ext>
            </a:extLst>
          </p:cNvPr>
          <p:cNvCxnSpPr>
            <a:cxnSpLocks/>
          </p:cNvCxnSpPr>
          <p:nvPr/>
        </p:nvCxnSpPr>
        <p:spPr>
          <a:xfrm flipV="1">
            <a:off x="10130246" y="2057186"/>
            <a:ext cx="940646" cy="914614"/>
          </a:xfrm>
          <a:prstGeom prst="bentConnector3">
            <a:avLst>
              <a:gd name="adj1" fmla="val 9995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B90E1A4B-3A48-ACBC-5BE3-FF0BA838D1C6}"/>
              </a:ext>
            </a:extLst>
          </p:cNvPr>
          <p:cNvCxnSpPr>
            <a:cxnSpLocks/>
          </p:cNvCxnSpPr>
          <p:nvPr/>
        </p:nvCxnSpPr>
        <p:spPr>
          <a:xfrm>
            <a:off x="2474156" y="2986790"/>
            <a:ext cx="2729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BFE66372-9B50-7788-9195-C6151D9E2631}"/>
              </a:ext>
            </a:extLst>
          </p:cNvPr>
          <p:cNvCxnSpPr>
            <a:cxnSpLocks/>
          </p:cNvCxnSpPr>
          <p:nvPr/>
        </p:nvCxnSpPr>
        <p:spPr>
          <a:xfrm>
            <a:off x="3773634" y="2986790"/>
            <a:ext cx="2729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C7A4936-3926-BF60-56BC-73FE01C752F2}"/>
              </a:ext>
            </a:extLst>
          </p:cNvPr>
          <p:cNvCxnSpPr>
            <a:cxnSpLocks/>
          </p:cNvCxnSpPr>
          <p:nvPr/>
        </p:nvCxnSpPr>
        <p:spPr>
          <a:xfrm>
            <a:off x="5073112" y="2986790"/>
            <a:ext cx="2729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57E4175E-2055-9E83-FECA-A65E15D21E28}"/>
              </a:ext>
            </a:extLst>
          </p:cNvPr>
          <p:cNvCxnSpPr>
            <a:cxnSpLocks/>
          </p:cNvCxnSpPr>
          <p:nvPr/>
        </p:nvCxnSpPr>
        <p:spPr>
          <a:xfrm>
            <a:off x="6342610" y="2986790"/>
            <a:ext cx="2729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550CF360-4BBD-2CBB-C00A-D656CD5FC320}"/>
              </a:ext>
            </a:extLst>
          </p:cNvPr>
          <p:cNvCxnSpPr>
            <a:cxnSpLocks/>
          </p:cNvCxnSpPr>
          <p:nvPr/>
        </p:nvCxnSpPr>
        <p:spPr>
          <a:xfrm>
            <a:off x="7627098" y="2986790"/>
            <a:ext cx="2729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324C7B43-EF43-0CF2-5B72-16A46BDF3DAF}"/>
              </a:ext>
            </a:extLst>
          </p:cNvPr>
          <p:cNvCxnSpPr>
            <a:cxnSpLocks/>
          </p:cNvCxnSpPr>
          <p:nvPr/>
        </p:nvCxnSpPr>
        <p:spPr>
          <a:xfrm>
            <a:off x="8926576" y="2986790"/>
            <a:ext cx="2729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21DB0C83-4E79-7919-D49F-5668F1E9A8EB}"/>
              </a:ext>
            </a:extLst>
          </p:cNvPr>
          <p:cNvGrpSpPr/>
          <p:nvPr/>
        </p:nvGrpSpPr>
        <p:grpSpPr>
          <a:xfrm>
            <a:off x="1507608" y="3437774"/>
            <a:ext cx="767428" cy="261610"/>
            <a:chOff x="1507608" y="3437774"/>
            <a:chExt cx="767428" cy="261610"/>
          </a:xfrm>
        </p:grpSpPr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B4FBBF89-4531-6467-28A4-3BA56803E4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07608" y="3494619"/>
              <a:ext cx="147921" cy="147921"/>
            </a:xfrm>
            <a:prstGeom prst="rect">
              <a:avLst/>
            </a:prstGeom>
          </p:spPr>
        </p:pic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E981FC22-A96A-58DC-1E8C-912DAF35D9BA}"/>
                </a:ext>
              </a:extLst>
            </p:cNvPr>
            <p:cNvSpPr txBox="1"/>
            <p:nvPr/>
          </p:nvSpPr>
          <p:spPr>
            <a:xfrm>
              <a:off x="1683207" y="3437774"/>
              <a:ext cx="59182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accent5"/>
                  </a:solidFill>
                </a:rPr>
                <a:t>Queue</a:t>
              </a:r>
            </a:p>
          </p:txBody>
        </p: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B288AF4B-8F93-5DD4-43FA-66096835A4FE}"/>
              </a:ext>
            </a:extLst>
          </p:cNvPr>
          <p:cNvGrpSpPr/>
          <p:nvPr/>
        </p:nvGrpSpPr>
        <p:grpSpPr>
          <a:xfrm>
            <a:off x="2841142" y="3429000"/>
            <a:ext cx="767428" cy="261610"/>
            <a:chOff x="2841142" y="3429000"/>
            <a:chExt cx="767428" cy="261610"/>
          </a:xfrm>
        </p:grpSpPr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FDAE0AD2-A46F-118F-D54C-2DF56FD86A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41142" y="3485845"/>
              <a:ext cx="147921" cy="147921"/>
            </a:xfrm>
            <a:prstGeom prst="rect">
              <a:avLst/>
            </a:prstGeom>
          </p:spPr>
        </p:pic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44562240-27D0-A0FF-4EBD-314F55F042D7}"/>
                </a:ext>
              </a:extLst>
            </p:cNvPr>
            <p:cNvSpPr txBox="1"/>
            <p:nvPr/>
          </p:nvSpPr>
          <p:spPr>
            <a:xfrm>
              <a:off x="3016741" y="3429000"/>
              <a:ext cx="59182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accent5"/>
                  </a:solidFill>
                </a:rPr>
                <a:t>Queue</a:t>
              </a:r>
            </a:p>
          </p:txBody>
        </p:sp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E18F7F6E-DF72-2865-909A-FE017F2EDD6F}"/>
              </a:ext>
            </a:extLst>
          </p:cNvPr>
          <p:cNvGrpSpPr/>
          <p:nvPr/>
        </p:nvGrpSpPr>
        <p:grpSpPr>
          <a:xfrm>
            <a:off x="4118819" y="3412102"/>
            <a:ext cx="813915" cy="261610"/>
            <a:chOff x="4118819" y="3412102"/>
            <a:chExt cx="813915" cy="261610"/>
          </a:xfrm>
        </p:grpSpPr>
        <p:pic>
          <p:nvPicPr>
            <p:cNvPr id="97" name="Picture 96">
              <a:extLst>
                <a:ext uri="{FF2B5EF4-FFF2-40B4-BE49-F238E27FC236}">
                  <a16:creationId xmlns:a16="http://schemas.microsoft.com/office/drawing/2014/main" id="{4EC0731B-B518-78F2-E4C9-075BA6DD5F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18819" y="3468947"/>
              <a:ext cx="147921" cy="147921"/>
            </a:xfrm>
            <a:prstGeom prst="rect">
              <a:avLst/>
            </a:prstGeom>
          </p:spPr>
        </p:pic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65B106E4-C9D3-48FE-37D1-27B1C36F8816}"/>
                </a:ext>
              </a:extLst>
            </p:cNvPr>
            <p:cNvSpPr txBox="1"/>
            <p:nvPr/>
          </p:nvSpPr>
          <p:spPr>
            <a:xfrm>
              <a:off x="4294418" y="3412102"/>
              <a:ext cx="63831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accent5"/>
                  </a:solidFill>
                </a:rPr>
                <a:t>Rework</a:t>
              </a:r>
            </a:p>
          </p:txBody>
        </p: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8DF2DCA3-6F8E-01F4-E78F-CA9DADA927CC}"/>
              </a:ext>
            </a:extLst>
          </p:cNvPr>
          <p:cNvGrpSpPr/>
          <p:nvPr/>
        </p:nvGrpSpPr>
        <p:grpSpPr>
          <a:xfrm>
            <a:off x="5344618" y="3410910"/>
            <a:ext cx="817121" cy="430887"/>
            <a:chOff x="5344618" y="3410910"/>
            <a:chExt cx="817121" cy="430887"/>
          </a:xfrm>
        </p:grpSpPr>
        <p:pic>
          <p:nvPicPr>
            <p:cNvPr id="100" name="Picture 99">
              <a:extLst>
                <a:ext uri="{FF2B5EF4-FFF2-40B4-BE49-F238E27FC236}">
                  <a16:creationId xmlns:a16="http://schemas.microsoft.com/office/drawing/2014/main" id="{350CA5E9-99AA-F2A5-6830-4A7C207792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44618" y="3467755"/>
              <a:ext cx="147921" cy="147921"/>
            </a:xfrm>
            <a:prstGeom prst="rect">
              <a:avLst/>
            </a:prstGeom>
          </p:spPr>
        </p:pic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BC0DD37F-8C8C-402C-F7A0-6A8D169DE7A0}"/>
                </a:ext>
              </a:extLst>
            </p:cNvPr>
            <p:cNvSpPr txBox="1"/>
            <p:nvPr/>
          </p:nvSpPr>
          <p:spPr>
            <a:xfrm>
              <a:off x="5520217" y="3410910"/>
              <a:ext cx="64152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accent5"/>
                  </a:solidFill>
                </a:rPr>
                <a:t>Manual</a:t>
              </a:r>
            </a:p>
            <a:p>
              <a:r>
                <a:rPr lang="en-US" sz="1100" dirty="0">
                  <a:solidFill>
                    <a:schemeClr val="accent5"/>
                  </a:solidFill>
                </a:rPr>
                <a:t> Search</a:t>
              </a:r>
            </a:p>
          </p:txBody>
        </p: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5C977144-2C7A-4C76-86B4-14D15B6EF931}"/>
              </a:ext>
            </a:extLst>
          </p:cNvPr>
          <p:cNvSpPr txBox="1"/>
          <p:nvPr/>
        </p:nvSpPr>
        <p:spPr>
          <a:xfrm>
            <a:off x="392211" y="3721777"/>
            <a:ext cx="9909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Processing </a:t>
            </a:r>
          </a:p>
          <a:p>
            <a:r>
              <a:rPr lang="en-US" sz="1200" b="1" dirty="0"/>
              <a:t> Time (PT)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795FB65-D73D-A863-042A-A290B15CEEB1}"/>
              </a:ext>
            </a:extLst>
          </p:cNvPr>
          <p:cNvSpPr txBox="1"/>
          <p:nvPr/>
        </p:nvSpPr>
        <p:spPr>
          <a:xfrm>
            <a:off x="384291" y="4121127"/>
            <a:ext cx="871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Waiting </a:t>
            </a:r>
          </a:p>
          <a:p>
            <a:r>
              <a:rPr lang="en-US" sz="1200" b="1" dirty="0"/>
              <a:t>Time (WT)</a:t>
            </a:r>
          </a:p>
        </p:txBody>
      </p:sp>
      <p:graphicFrame>
        <p:nvGraphicFramePr>
          <p:cNvPr id="105" name="Table 104">
            <a:extLst>
              <a:ext uri="{FF2B5EF4-FFF2-40B4-BE49-F238E27FC236}">
                <a16:creationId xmlns:a16="http://schemas.microsoft.com/office/drawing/2014/main" id="{EE3461E0-1305-3B00-A9BA-655F5A283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850395"/>
              </p:ext>
            </p:extLst>
          </p:nvPr>
        </p:nvGraphicFramePr>
        <p:xfrm>
          <a:off x="1479911" y="3765003"/>
          <a:ext cx="864902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5575">
                  <a:extLst>
                    <a:ext uri="{9D8B030D-6E8A-4147-A177-3AD203B41FA5}">
                      <a16:colId xmlns:a16="http://schemas.microsoft.com/office/drawing/2014/main" val="3936034917"/>
                    </a:ext>
                  </a:extLst>
                </a:gridCol>
                <a:gridCol w="1235575">
                  <a:extLst>
                    <a:ext uri="{9D8B030D-6E8A-4147-A177-3AD203B41FA5}">
                      <a16:colId xmlns:a16="http://schemas.microsoft.com/office/drawing/2014/main" val="926888471"/>
                    </a:ext>
                  </a:extLst>
                </a:gridCol>
                <a:gridCol w="1235575">
                  <a:extLst>
                    <a:ext uri="{9D8B030D-6E8A-4147-A177-3AD203B41FA5}">
                      <a16:colId xmlns:a16="http://schemas.microsoft.com/office/drawing/2014/main" val="3900100390"/>
                    </a:ext>
                  </a:extLst>
                </a:gridCol>
                <a:gridCol w="1235575">
                  <a:extLst>
                    <a:ext uri="{9D8B030D-6E8A-4147-A177-3AD203B41FA5}">
                      <a16:colId xmlns:a16="http://schemas.microsoft.com/office/drawing/2014/main" val="2611616576"/>
                    </a:ext>
                  </a:extLst>
                </a:gridCol>
                <a:gridCol w="1235575">
                  <a:extLst>
                    <a:ext uri="{9D8B030D-6E8A-4147-A177-3AD203B41FA5}">
                      <a16:colId xmlns:a16="http://schemas.microsoft.com/office/drawing/2014/main" val="1654590193"/>
                    </a:ext>
                  </a:extLst>
                </a:gridCol>
                <a:gridCol w="1235575">
                  <a:extLst>
                    <a:ext uri="{9D8B030D-6E8A-4147-A177-3AD203B41FA5}">
                      <a16:colId xmlns:a16="http://schemas.microsoft.com/office/drawing/2014/main" val="1705673601"/>
                    </a:ext>
                  </a:extLst>
                </a:gridCol>
                <a:gridCol w="1235575">
                  <a:extLst>
                    <a:ext uri="{9D8B030D-6E8A-4147-A177-3AD203B41FA5}">
                      <a16:colId xmlns:a16="http://schemas.microsoft.com/office/drawing/2014/main" val="16668948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686762"/>
                          </a:solidFill>
                        </a:rPr>
                        <a:t>2 min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686762"/>
                          </a:solidFill>
                        </a:rPr>
                        <a:t>3 min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686762"/>
                          </a:solidFill>
                        </a:rPr>
                        <a:t>4 min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686762"/>
                          </a:solidFill>
                        </a:rPr>
                        <a:t>9 min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686762"/>
                          </a:solidFill>
                        </a:rPr>
                        <a:t>5 min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686762"/>
                          </a:solidFill>
                        </a:rPr>
                        <a:t>3 min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686762"/>
                          </a:solidFill>
                        </a:rPr>
                        <a:t>2 min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326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686762"/>
                          </a:solidFill>
                        </a:rPr>
                        <a:t>7 min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686762"/>
                          </a:solidFill>
                        </a:rPr>
                        <a:t>12 min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686762"/>
                          </a:solidFill>
                        </a:rPr>
                        <a:t>8 min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686762"/>
                          </a:solidFill>
                        </a:rPr>
                        <a:t>14 min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686762"/>
                          </a:solidFill>
                        </a:rPr>
                        <a:t>10 min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686762"/>
                          </a:solidFill>
                        </a:rPr>
                        <a:t>8 min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686762"/>
                          </a:solidFill>
                        </a:rPr>
                        <a:t>5 min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621063"/>
                  </a:ext>
                </a:extLst>
              </a:tr>
            </a:tbl>
          </a:graphicData>
        </a:graphic>
      </p:graphicFrame>
      <p:sp>
        <p:nvSpPr>
          <p:cNvPr id="124" name="TextBox 123">
            <a:extLst>
              <a:ext uri="{FF2B5EF4-FFF2-40B4-BE49-F238E27FC236}">
                <a16:creationId xmlns:a16="http://schemas.microsoft.com/office/drawing/2014/main" id="{457255F6-220F-6785-7215-1B210B973234}"/>
              </a:ext>
            </a:extLst>
          </p:cNvPr>
          <p:cNvSpPr txBox="1"/>
          <p:nvPr/>
        </p:nvSpPr>
        <p:spPr>
          <a:xfrm>
            <a:off x="1612900" y="4556597"/>
            <a:ext cx="1037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686762"/>
                </a:solidFill>
              </a:rPr>
              <a:t>Non-Value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74DCE82-2A2F-6FFC-01EC-7ECDCE79A5E8}"/>
              </a:ext>
            </a:extLst>
          </p:cNvPr>
          <p:cNvSpPr txBox="1"/>
          <p:nvPr/>
        </p:nvSpPr>
        <p:spPr>
          <a:xfrm>
            <a:off x="2795814" y="4549338"/>
            <a:ext cx="1037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686762"/>
                </a:solidFill>
              </a:rPr>
              <a:t>Non-Value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6C3AE795-F593-47D9-0637-E4C6056708AB}"/>
              </a:ext>
            </a:extLst>
          </p:cNvPr>
          <p:cNvSpPr txBox="1"/>
          <p:nvPr/>
        </p:nvSpPr>
        <p:spPr>
          <a:xfrm>
            <a:off x="4051298" y="4542079"/>
            <a:ext cx="1037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686762"/>
                </a:solidFill>
              </a:rPr>
              <a:t>Non-Value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528FDCCB-610B-9007-3CCB-D4FEC63300B8}"/>
              </a:ext>
            </a:extLst>
          </p:cNvPr>
          <p:cNvSpPr txBox="1"/>
          <p:nvPr/>
        </p:nvSpPr>
        <p:spPr>
          <a:xfrm>
            <a:off x="5292268" y="4534820"/>
            <a:ext cx="1037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686762"/>
                </a:solidFill>
              </a:rPr>
              <a:t>Non-Value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5B856D80-A819-43FD-8C68-C4ADADFA8E9F}"/>
              </a:ext>
            </a:extLst>
          </p:cNvPr>
          <p:cNvSpPr txBox="1"/>
          <p:nvPr/>
        </p:nvSpPr>
        <p:spPr>
          <a:xfrm>
            <a:off x="6518724" y="4527561"/>
            <a:ext cx="1037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686762"/>
                </a:solidFill>
              </a:rPr>
              <a:t>Value Added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0FE5FFD-4644-5028-A450-29E6BED3707C}"/>
              </a:ext>
            </a:extLst>
          </p:cNvPr>
          <p:cNvSpPr txBox="1"/>
          <p:nvPr/>
        </p:nvSpPr>
        <p:spPr>
          <a:xfrm>
            <a:off x="7832264" y="4520302"/>
            <a:ext cx="1037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686762"/>
                </a:solidFill>
              </a:rPr>
              <a:t>Non-Value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A247D4-5A90-9A67-55ED-FB8F08F91940}"/>
              </a:ext>
            </a:extLst>
          </p:cNvPr>
          <p:cNvSpPr txBox="1"/>
          <p:nvPr/>
        </p:nvSpPr>
        <p:spPr>
          <a:xfrm>
            <a:off x="9102262" y="4498534"/>
            <a:ext cx="10374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686762"/>
                </a:solidFill>
              </a:rPr>
              <a:t>Value Added</a:t>
            </a:r>
          </a:p>
        </p:txBody>
      </p: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7B55DF24-D11F-88A5-709D-7A5CFAAE6FC8}"/>
              </a:ext>
            </a:extLst>
          </p:cNvPr>
          <p:cNvGrpSpPr/>
          <p:nvPr/>
        </p:nvGrpSpPr>
        <p:grpSpPr>
          <a:xfrm>
            <a:off x="6672676" y="3389142"/>
            <a:ext cx="857196" cy="261610"/>
            <a:chOff x="6672676" y="3389142"/>
            <a:chExt cx="857196" cy="261610"/>
          </a:xfrm>
        </p:grpSpPr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387B721D-FDF1-71F1-25B1-44B4B34D9E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72676" y="3445987"/>
              <a:ext cx="147921" cy="147921"/>
            </a:xfrm>
            <a:prstGeom prst="rect">
              <a:avLst/>
            </a:prstGeom>
          </p:spPr>
        </p:pic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3A004A71-A5E0-8452-BD1B-09173670997A}"/>
                </a:ext>
              </a:extLst>
            </p:cNvPr>
            <p:cNvSpPr txBox="1"/>
            <p:nvPr/>
          </p:nvSpPr>
          <p:spPr>
            <a:xfrm>
              <a:off x="6848275" y="3389142"/>
              <a:ext cx="68159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accent5"/>
                  </a:solidFill>
                </a:rPr>
                <a:t>Handoff</a:t>
              </a:r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D08EF7A2-D3A8-2389-C5A8-19DB1CF77435}"/>
              </a:ext>
            </a:extLst>
          </p:cNvPr>
          <p:cNvGrpSpPr/>
          <p:nvPr/>
        </p:nvGrpSpPr>
        <p:grpSpPr>
          <a:xfrm>
            <a:off x="7957194" y="3396399"/>
            <a:ext cx="813915" cy="261610"/>
            <a:chOff x="7957194" y="3396399"/>
            <a:chExt cx="813915" cy="261610"/>
          </a:xfrm>
        </p:grpSpPr>
        <p:pic>
          <p:nvPicPr>
            <p:cNvPr id="135" name="Picture 134">
              <a:extLst>
                <a:ext uri="{FF2B5EF4-FFF2-40B4-BE49-F238E27FC236}">
                  <a16:creationId xmlns:a16="http://schemas.microsoft.com/office/drawing/2014/main" id="{6FF39F64-1EFC-2E64-CDC2-03BA113AFF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57194" y="3453244"/>
              <a:ext cx="147921" cy="147921"/>
            </a:xfrm>
            <a:prstGeom prst="rect">
              <a:avLst/>
            </a:prstGeom>
          </p:spPr>
        </p:pic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F28F0FDB-8604-0D93-83D2-DDEFC9465F11}"/>
                </a:ext>
              </a:extLst>
            </p:cNvPr>
            <p:cNvSpPr txBox="1"/>
            <p:nvPr/>
          </p:nvSpPr>
          <p:spPr>
            <a:xfrm>
              <a:off x="8132793" y="3396399"/>
              <a:ext cx="63831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accent5"/>
                  </a:solidFill>
                </a:rPr>
                <a:t>Rework</a:t>
              </a:r>
            </a:p>
          </p:txBody>
        </p: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8EDEDB9A-C4F6-F8FF-8D1E-8ED90499DB74}"/>
              </a:ext>
            </a:extLst>
          </p:cNvPr>
          <p:cNvGrpSpPr/>
          <p:nvPr/>
        </p:nvGrpSpPr>
        <p:grpSpPr>
          <a:xfrm>
            <a:off x="9256218" y="3403659"/>
            <a:ext cx="821930" cy="261610"/>
            <a:chOff x="9256218" y="3403659"/>
            <a:chExt cx="821930" cy="261610"/>
          </a:xfrm>
        </p:grpSpPr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BEC0DC86-E36D-CE07-7B64-6A2637DF33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56218" y="3460504"/>
              <a:ext cx="147921" cy="147921"/>
            </a:xfrm>
            <a:prstGeom prst="rect">
              <a:avLst/>
            </a:prstGeom>
          </p:spPr>
        </p:pic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9B5D19B2-DFF3-49B5-E888-6823E46190C2}"/>
                </a:ext>
              </a:extLst>
            </p:cNvPr>
            <p:cNvSpPr txBox="1"/>
            <p:nvPr/>
          </p:nvSpPr>
          <p:spPr>
            <a:xfrm>
              <a:off x="9431817" y="3403659"/>
              <a:ext cx="6463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accent5"/>
                  </a:solidFill>
                </a:rPr>
                <a:t>Waiting</a:t>
              </a:r>
            </a:p>
          </p:txBody>
        </p:sp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7A49DE0-5B1A-D561-13E8-FAF209A90881}"/>
              </a:ext>
            </a:extLst>
          </p:cNvPr>
          <p:cNvGrpSpPr/>
          <p:nvPr/>
        </p:nvGrpSpPr>
        <p:grpSpPr>
          <a:xfrm>
            <a:off x="2541317" y="4832339"/>
            <a:ext cx="7852638" cy="706921"/>
            <a:chOff x="2541317" y="4832339"/>
            <a:chExt cx="7852638" cy="706921"/>
          </a:xfrm>
        </p:grpSpPr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81D26183-56B6-8B34-629E-C0B4B7A7F4A7}"/>
                </a:ext>
              </a:extLst>
            </p:cNvPr>
            <p:cNvSpPr txBox="1"/>
            <p:nvPr/>
          </p:nvSpPr>
          <p:spPr>
            <a:xfrm>
              <a:off x="2541317" y="4839600"/>
              <a:ext cx="29603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C00000"/>
                  </a:solidFill>
                </a:rPr>
                <a:t>TOTAL PROCESSING TIME – 28 min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B38D7A00-0362-5049-BBC9-F97611417179}"/>
                </a:ext>
              </a:extLst>
            </p:cNvPr>
            <p:cNvSpPr txBox="1"/>
            <p:nvPr/>
          </p:nvSpPr>
          <p:spPr>
            <a:xfrm>
              <a:off x="6786746" y="4832339"/>
              <a:ext cx="25823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C00000"/>
                  </a:solidFill>
                </a:rPr>
                <a:t>TOTAL WAITING TIME – 64 min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E4DA688F-FF34-CD45-2322-301082616D07}"/>
                </a:ext>
              </a:extLst>
            </p:cNvPr>
            <p:cNvSpPr txBox="1"/>
            <p:nvPr/>
          </p:nvSpPr>
          <p:spPr>
            <a:xfrm>
              <a:off x="2555834" y="5231483"/>
              <a:ext cx="23206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C00000"/>
                  </a:solidFill>
                </a:rPr>
                <a:t>TOTAL LEAD TIME –  92 min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2A953604-B639-3F17-2E5C-37242871EAFB}"/>
                </a:ext>
              </a:extLst>
            </p:cNvPr>
            <p:cNvSpPr txBox="1"/>
            <p:nvPr/>
          </p:nvSpPr>
          <p:spPr>
            <a:xfrm>
              <a:off x="6786749" y="5166172"/>
              <a:ext cx="36072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C00000"/>
                  </a:solidFill>
                </a:rPr>
                <a:t>% VALUE ADDED PROCESSING TIME – 25%</a:t>
              </a:r>
            </a:p>
          </p:txBody>
        </p:sp>
      </p:grpSp>
      <p:sp>
        <p:nvSpPr>
          <p:cNvPr id="145" name="Rectangle 144">
            <a:extLst>
              <a:ext uri="{FF2B5EF4-FFF2-40B4-BE49-F238E27FC236}">
                <a16:creationId xmlns:a16="http://schemas.microsoft.com/office/drawing/2014/main" id="{CE1E701E-0CFD-89AA-4406-5E9BA581AE81}"/>
              </a:ext>
            </a:extLst>
          </p:cNvPr>
          <p:cNvSpPr/>
          <p:nvPr/>
        </p:nvSpPr>
        <p:spPr>
          <a:xfrm>
            <a:off x="423563" y="5583573"/>
            <a:ext cx="10789417" cy="914400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noFill/>
          </a:ln>
          <a:effectLst>
            <a:glow rad="139700">
              <a:schemeClr val="accent2">
                <a:satMod val="175000"/>
                <a:alpha val="18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rgbClr val="285943"/>
                </a:solidFill>
              </a:rPr>
              <a:t>KEY INSIGHT: </a:t>
            </a:r>
            <a:r>
              <a:rPr lang="en-US" sz="1400" b="1" dirty="0">
                <a:solidFill>
                  <a:srgbClr val="686762"/>
                </a:solidFill>
              </a:rPr>
              <a:t>(70%) of the total lead time is waiting time. The major delays arise from queues, manual searching, handoffs, and rework across the current process.</a:t>
            </a:r>
          </a:p>
          <a:p>
            <a:r>
              <a:rPr lang="en-US" sz="1400" b="1" dirty="0">
                <a:solidFill>
                  <a:srgbClr val="686762"/>
                </a:solidFill>
              </a:rPr>
              <a:t>Customers depend on the support process to access status information.</a:t>
            </a:r>
          </a:p>
        </p:txBody>
      </p:sp>
    </p:spTree>
    <p:extLst>
      <p:ext uri="{BB962C8B-B14F-4D97-AF65-F5344CB8AC3E}">
        <p14:creationId xmlns:p14="http://schemas.microsoft.com/office/powerpoint/2010/main" val="2512301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M 02">
      <a:dk1>
        <a:srgbClr val="1F4D3A"/>
      </a:dk1>
      <a:lt1>
        <a:srgbClr val="F8F7F2"/>
      </a:lt1>
      <a:dk2>
        <a:srgbClr val="303030"/>
      </a:dk2>
      <a:lt2>
        <a:srgbClr val="333333"/>
      </a:lt2>
      <a:accent1>
        <a:srgbClr val="2E6B4F"/>
      </a:accent1>
      <a:accent2>
        <a:srgbClr val="8FAF9B"/>
      </a:accent2>
      <a:accent3>
        <a:srgbClr val="196B24"/>
      </a:accent3>
      <a:accent4>
        <a:srgbClr val="C5A35D"/>
      </a:accent4>
      <a:accent5>
        <a:srgbClr val="B76E5D"/>
      </a:accent5>
      <a:accent6>
        <a:srgbClr val="788659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217</Words>
  <Application>Microsoft Macintosh PowerPoint</Application>
  <PresentationFormat>Widescreen</PresentationFormat>
  <Paragraphs>73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Rinku KS</dc:creator>
  <cp:lastModifiedBy>Rinku KS</cp:lastModifiedBy>
  <cp:revision>8</cp:revision>
  <dcterms:created xsi:type="dcterms:W3CDTF">2026-08-14T03:22:25Z</dcterms:created>
  <dcterms:modified xsi:type="dcterms:W3CDTF">2026-08-16T09:34:40Z</dcterms:modified>
</cp:coreProperties>
</file>