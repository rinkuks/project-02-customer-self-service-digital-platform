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679"/>
  </p:normalViewPr>
  <p:slideViewPr>
    <p:cSldViewPr snapToGrid="0" snapToObjects="1">
      <p:cViewPr varScale="1">
        <p:scale>
          <a:sx n="88" d="100"/>
          <a:sy n="88" d="100"/>
        </p:scale>
        <p:origin x="48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64592"/>
            <a:ext cx="3755195" cy="46782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800" b="1" dirty="0">
                <a:solidFill>
                  <a:srgbClr val="17523D"/>
                </a:solidFill>
                <a:latin typeface="Aptos"/>
              </a:rPr>
              <a:t>A3 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18120" y="164592"/>
            <a:ext cx="3977639" cy="36576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1200" b="1" dirty="0">
                <a:solidFill>
                  <a:srgbClr val="17523D"/>
                </a:solidFill>
                <a:latin typeface="Aptos"/>
              </a:rPr>
              <a:t>Focus: Reduce waiting, searching and rework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22791" y="480060"/>
            <a:ext cx="3090672" cy="621792"/>
          </a:xfrm>
          <a:prstGeom prst="roundRect">
            <a:avLst/>
          </a:prstGeom>
          <a:solidFill>
            <a:srgbClr val="E5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80196" y="612648"/>
            <a:ext cx="1975862" cy="406265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1200" b="1" dirty="0">
                <a:solidFill>
                  <a:srgbClr val="17523D"/>
                </a:solidFill>
                <a:latin typeface="Aptos"/>
              </a:rPr>
              <a:t>GOAL / TARGET
92 min → ≤ 6</a:t>
            </a:r>
            <a:r>
              <a:rPr lang="en-US" sz="1200" b="1" dirty="0">
                <a:solidFill>
                  <a:srgbClr val="17523D"/>
                </a:solidFill>
                <a:latin typeface="Aptos"/>
              </a:rPr>
              <a:t>5</a:t>
            </a:r>
            <a:r>
              <a:rPr sz="1200" b="1" dirty="0">
                <a:solidFill>
                  <a:srgbClr val="17523D"/>
                </a:solidFill>
                <a:latin typeface="Aptos"/>
              </a:rPr>
              <a:t> min lead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353312"/>
            <a:ext cx="37033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7472" y="1353312"/>
            <a:ext cx="3703320" cy="310896"/>
          </a:xfrm>
          <a:prstGeom prst="roundRect">
            <a:avLst/>
          </a:prstGeom>
          <a:solidFill>
            <a:srgbClr val="17523D"/>
          </a:solidFill>
          <a:ln>
            <a:solidFill>
              <a:srgbClr val="175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94460"/>
            <a:ext cx="1740220" cy="213905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150" b="1" dirty="0">
                <a:solidFill>
                  <a:srgbClr val="FFFFFF"/>
                </a:solidFill>
                <a:latin typeface="Aptos"/>
              </a:rPr>
              <a:t>1. PROBLEM </a:t>
            </a:r>
            <a:r>
              <a:rPr sz="1150" b="1" dirty="0">
                <a:solidFill>
                  <a:schemeClr val="bg1"/>
                </a:solidFill>
                <a:latin typeface="Aptos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746504"/>
            <a:ext cx="3456431" cy="8833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dirty="0">
                <a:solidFill>
                  <a:srgbClr val="1C2320"/>
                </a:solidFill>
                <a:latin typeface="Aptos"/>
              </a:rPr>
              <a:t>Customer requests take excessive time to resolve due to long waiting periods, fragmented information across systems, multiple handoffs and rework.
Impact: poorer customer experience and lower operational efficiency.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8035" y="1366419"/>
            <a:ext cx="37033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87952" y="1353312"/>
            <a:ext cx="3703320" cy="310896"/>
          </a:xfrm>
          <a:prstGeom prst="roundRect">
            <a:avLst/>
          </a:prstGeom>
          <a:solidFill>
            <a:srgbClr val="17523D"/>
          </a:solidFill>
          <a:ln>
            <a:solidFill>
              <a:srgbClr val="175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394460"/>
            <a:ext cx="3483863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2. CURRENT 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746504"/>
            <a:ext cx="3224601" cy="71404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100" b="0" dirty="0">
                <a:solidFill>
                  <a:srgbClr val="1C2320"/>
                </a:solidFill>
                <a:latin typeface="Aptos"/>
              </a:rPr>
              <a:t>• Lead time: 92 min
• Processing time: 28 min (30%)
• Waiting time: 64 min (70%)
• Multiple system searches, handoffs and follow-up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353312"/>
            <a:ext cx="37947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28431" y="1353312"/>
            <a:ext cx="3794760" cy="310896"/>
          </a:xfrm>
          <a:prstGeom prst="roundRect">
            <a:avLst/>
          </a:prstGeom>
          <a:solidFill>
            <a:srgbClr val="17523D"/>
          </a:solidFill>
          <a:ln>
            <a:solidFill>
              <a:srgbClr val="175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1394460"/>
            <a:ext cx="3575304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3. TARGET 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1746504"/>
            <a:ext cx="2222724" cy="883319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100" b="0" dirty="0">
                <a:solidFill>
                  <a:srgbClr val="1C2320"/>
                </a:solidFill>
                <a:latin typeface="Aptos"/>
              </a:rPr>
              <a:t>• Lead time ≤ 6</a:t>
            </a:r>
            <a:r>
              <a:rPr lang="en-US" sz="1100" b="0" dirty="0">
                <a:solidFill>
                  <a:srgbClr val="1C2320"/>
                </a:solidFill>
                <a:latin typeface="Aptos"/>
              </a:rPr>
              <a:t>5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 min
• Waiting time reduced</a:t>
            </a:r>
            <a:r>
              <a:rPr lang="en-US" sz="1100" b="0" dirty="0">
                <a:solidFill>
                  <a:srgbClr val="1C2320"/>
                </a:solidFill>
                <a:latin typeface="Aptos"/>
              </a:rPr>
              <a:t> by 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≥ 40%
• Fewer handoffs and rework
• Real-time request-status visibility
• Seamless information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0229" y="2830991"/>
            <a:ext cx="5532120" cy="2786824"/>
          </a:xfrm>
          <a:prstGeom prst="roundRect">
            <a:avLst/>
          </a:prstGeom>
          <a:solidFill>
            <a:srgbClr val="F7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00229" y="2775148"/>
            <a:ext cx="5532120" cy="310896"/>
          </a:xfrm>
          <a:prstGeom prst="roundRect">
            <a:avLst/>
          </a:prstGeom>
          <a:solidFill>
            <a:srgbClr val="17523D"/>
          </a:solidFill>
          <a:ln>
            <a:solidFill>
              <a:srgbClr val="175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831544"/>
            <a:ext cx="5312664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4. ROOT CAUSE ANALYSIS — 5 WHYS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536" y="3133296"/>
            <a:ext cx="4069384" cy="2406813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100" b="1" dirty="0">
                <a:solidFill>
                  <a:srgbClr val="1C2320"/>
                </a:solidFill>
                <a:latin typeface="Aptos"/>
              </a:rPr>
              <a:t>WHY 1  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Why do customers wait?
→ Requests </a:t>
            </a:r>
            <a:r>
              <a:rPr lang="en-US" sz="1100" b="0" dirty="0">
                <a:solidFill>
                  <a:srgbClr val="1C2320"/>
                </a:solidFill>
                <a:latin typeface="Aptos"/>
              </a:rPr>
              <a:t>enters 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queues / </a:t>
            </a:r>
            <a:r>
              <a:rPr lang="en-US" sz="1100" b="0" dirty="0">
                <a:solidFill>
                  <a:srgbClr val="1C2320"/>
                </a:solidFill>
                <a:latin typeface="Aptos"/>
              </a:rPr>
              <a:t>customers cannot see status directly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.
</a:t>
            </a:r>
            <a:r>
              <a:rPr sz="1100" b="1" dirty="0">
                <a:solidFill>
                  <a:srgbClr val="1C2320"/>
                </a:solidFill>
                <a:latin typeface="Aptos"/>
              </a:rPr>
              <a:t>WHY 2  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Why is status not visible in real time?
→ Information is stored in multiple systems.
</a:t>
            </a:r>
            <a:r>
              <a:rPr sz="1100" b="1" dirty="0">
                <a:solidFill>
                  <a:srgbClr val="1C2320"/>
                </a:solidFill>
                <a:latin typeface="Aptos"/>
              </a:rPr>
              <a:t>WHY 3  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Why multiple systems?
→ No unified tracking </a:t>
            </a:r>
            <a:r>
              <a:rPr lang="en-US" sz="1100" b="0" dirty="0">
                <a:solidFill>
                  <a:srgbClr val="1C2320"/>
                </a:solidFill>
                <a:latin typeface="Aptos"/>
              </a:rPr>
              <a:t>across systems.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
</a:t>
            </a:r>
            <a:r>
              <a:rPr sz="1100" b="1" dirty="0">
                <a:solidFill>
                  <a:srgbClr val="1C2320"/>
                </a:solidFill>
                <a:latin typeface="Aptos"/>
              </a:rPr>
              <a:t>WHY 4  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Why no unified tracking?
→ Process ownership is fragmented.
</a:t>
            </a:r>
            <a:r>
              <a:rPr sz="1100" b="1" dirty="0">
                <a:solidFill>
                  <a:srgbClr val="1C2320"/>
                </a:solidFill>
                <a:latin typeface="Aptos"/>
              </a:rPr>
              <a:t>WHY 5  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ROOT CAUSE
→ Lack of an integrated status view and clear process ownership</a:t>
            </a:r>
            <a:r>
              <a:rPr sz="869" b="0" dirty="0">
                <a:solidFill>
                  <a:srgbClr val="1C2320"/>
                </a:solidFill>
                <a:latin typeface="Aptos"/>
              </a:rPr>
              <a:t>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A133B55-8F7A-6391-3321-8B9828412FE1}"/>
              </a:ext>
            </a:extLst>
          </p:cNvPr>
          <p:cNvGrpSpPr/>
          <p:nvPr/>
        </p:nvGrpSpPr>
        <p:grpSpPr>
          <a:xfrm>
            <a:off x="6039611" y="2793260"/>
            <a:ext cx="2880360" cy="2824555"/>
            <a:chOff x="6002019" y="2766349"/>
            <a:chExt cx="2880360" cy="2824555"/>
          </a:xfrm>
        </p:grpSpPr>
        <p:sp>
          <p:nvSpPr>
            <p:cNvPr id="22" name="Rounded Rectangle 21"/>
            <p:cNvSpPr/>
            <p:nvPr/>
          </p:nvSpPr>
          <p:spPr>
            <a:xfrm>
              <a:off x="6002019" y="2770631"/>
              <a:ext cx="2880360" cy="2820273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002019" y="2766349"/>
              <a:ext cx="2880360" cy="310896"/>
            </a:xfrm>
            <a:prstGeom prst="roundRect">
              <a:avLst/>
            </a:prstGeom>
            <a:solidFill>
              <a:srgbClr val="17523D"/>
            </a:solidFill>
            <a:ln>
              <a:solidFill>
                <a:srgbClr val="17523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115429" y="2817689"/>
              <a:ext cx="2660904" cy="228600"/>
            </a:xfrm>
            <a:prstGeom prst="rect">
              <a:avLst/>
            </a:prstGeom>
            <a:noFill/>
          </p:spPr>
          <p:txBody>
            <a:bodyPr wrap="none" lIns="45720" tIns="18288" rIns="45720" bIns="18288">
              <a:spAutoFit/>
            </a:bodyPr>
            <a:lstStyle/>
            <a:p>
              <a:pPr algn="l"/>
              <a:r>
                <a:rPr sz="1150" b="1" dirty="0">
                  <a:solidFill>
                    <a:srgbClr val="FFFFFF"/>
                  </a:solidFill>
                  <a:latin typeface="Aptos"/>
                </a:rPr>
                <a:t>5. COUNTERMEASURES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184972" y="3216670"/>
              <a:ext cx="2633472" cy="2237536"/>
            </a:xfrm>
            <a:prstGeom prst="rect">
              <a:avLst/>
            </a:prstGeom>
            <a:noFill/>
          </p:spPr>
          <p:txBody>
            <a:bodyPr wrap="square" lIns="45720" tIns="18288" rIns="45720" bIns="18288">
              <a:spAutoFit/>
            </a:bodyPr>
            <a:lstStyle/>
            <a:p>
              <a:pPr algn="l"/>
              <a:r>
                <a:rPr sz="1100" b="0" dirty="0">
                  <a:solidFill>
                    <a:srgbClr val="1C2320"/>
                  </a:solidFill>
                  <a:latin typeface="Aptos"/>
                </a:rPr>
                <a:t>1. Create unified status view for real-time visibility
2. Define clear process ownership and handoff rules
3. Standardi</a:t>
              </a:r>
              <a:r>
                <a:rPr lang="en-US" sz="1100" b="0" dirty="0">
                  <a:solidFill>
                    <a:srgbClr val="1C2320"/>
                  </a:solidFill>
                  <a:latin typeface="Aptos"/>
                </a:rPr>
                <a:t>z</a:t>
              </a:r>
              <a:r>
                <a:rPr sz="1100" b="0" dirty="0">
                  <a:solidFill>
                    <a:srgbClr val="1C2320"/>
                  </a:solidFill>
                  <a:latin typeface="Aptos"/>
                </a:rPr>
                <a:t>e customer information intake to reduce rework
4. Enable proactive status updates
5. Integrate </a:t>
              </a:r>
              <a:r>
                <a:rPr lang="en-US" sz="1100" b="0" dirty="0">
                  <a:solidFill>
                    <a:srgbClr val="1C2320"/>
                  </a:solidFill>
                  <a:latin typeface="Aptos"/>
                </a:rPr>
                <a:t>relevant status data across systems.</a:t>
              </a:r>
              <a:endParaRPr sz="1100" b="0" dirty="0">
                <a:solidFill>
                  <a:srgbClr val="1C2320"/>
                </a:solidFill>
                <a:latin typeface="Aptos"/>
              </a:endParaRPr>
            </a:p>
          </p:txBody>
        </p:sp>
      </p:grpSp>
      <p:sp>
        <p:nvSpPr>
          <p:cNvPr id="26" name="Rounded Rectangle 25"/>
          <p:cNvSpPr/>
          <p:nvPr/>
        </p:nvSpPr>
        <p:spPr>
          <a:xfrm>
            <a:off x="9093924" y="2766349"/>
            <a:ext cx="2697480" cy="2851466"/>
          </a:xfrm>
          <a:prstGeom prst="roundRect">
            <a:avLst/>
          </a:prstGeom>
          <a:solidFill>
            <a:srgbClr val="E5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93924" y="2735531"/>
            <a:ext cx="2697480" cy="310896"/>
          </a:xfrm>
          <a:prstGeom prst="roundRect">
            <a:avLst/>
          </a:prstGeom>
          <a:solidFill>
            <a:srgbClr val="17523D"/>
          </a:solidFill>
          <a:ln>
            <a:solidFill>
              <a:srgbClr val="175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39" y="2802127"/>
            <a:ext cx="2478024" cy="2286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150" b="1" dirty="0">
                <a:solidFill>
                  <a:srgbClr val="FFFFFF"/>
                </a:solidFill>
                <a:latin typeface="Aptos"/>
              </a:rPr>
              <a:t>6. SUCCESS MEASURES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6603" y="3127795"/>
            <a:ext cx="1993494" cy="2406813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100" b="0" dirty="0">
                <a:solidFill>
                  <a:srgbClr val="1C2320"/>
                </a:solidFill>
                <a:latin typeface="Aptos"/>
              </a:rPr>
              <a:t>Lead Time
≤ 6</a:t>
            </a:r>
            <a:r>
              <a:rPr lang="en-US" sz="1100" b="0" dirty="0">
                <a:solidFill>
                  <a:srgbClr val="1C2320"/>
                </a:solidFill>
                <a:latin typeface="Aptos"/>
              </a:rPr>
              <a:t>5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 min
Waiting Time
</a:t>
            </a:r>
            <a:r>
              <a:rPr lang="en-US" sz="1100" b="0" dirty="0">
                <a:solidFill>
                  <a:srgbClr val="1C2320"/>
                </a:solidFill>
                <a:latin typeface="Aptos"/>
              </a:rPr>
              <a:t>reduced by 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≥ 40% 
Rework / Follow-up
</a:t>
            </a:r>
            <a:r>
              <a:rPr lang="en-US" sz="1100" b="0" dirty="0">
                <a:solidFill>
                  <a:srgbClr val="1C2320"/>
                </a:solidFill>
                <a:latin typeface="Aptos"/>
              </a:rPr>
              <a:t>- Re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duc</a:t>
            </a:r>
            <a:r>
              <a:rPr lang="en-US" sz="1100" b="0" dirty="0">
                <a:solidFill>
                  <a:srgbClr val="1C2320"/>
                </a:solidFill>
                <a:latin typeface="Aptos"/>
              </a:rPr>
              <a:t>ed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
Customer Experience
</a:t>
            </a:r>
            <a:r>
              <a:rPr lang="en-US" sz="1100" b="0" dirty="0">
                <a:solidFill>
                  <a:srgbClr val="1C2320"/>
                </a:solidFill>
                <a:latin typeface="Aptos"/>
              </a:rPr>
              <a:t>- Fewer repeat contacts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
Process Efficiency
</a:t>
            </a:r>
            <a:r>
              <a:rPr lang="en-US" sz="1100" b="0" dirty="0">
                <a:solidFill>
                  <a:srgbClr val="1C2320"/>
                </a:solidFill>
                <a:latin typeface="Aptos"/>
              </a:rPr>
              <a:t>- Reduced</a:t>
            </a:r>
            <a:r>
              <a:rPr sz="1100" b="0" dirty="0">
                <a:solidFill>
                  <a:srgbClr val="1C2320"/>
                </a:solidFill>
                <a:latin typeface="Aptos"/>
              </a:rPr>
              <a:t> handoffs &amp; searches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7569" y="5763394"/>
            <a:ext cx="11475720" cy="786384"/>
          </a:xfrm>
          <a:prstGeom prst="roundRect">
            <a:avLst/>
          </a:prstGeom>
          <a:solidFill>
            <a:srgbClr val="F2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049" y="6019163"/>
            <a:ext cx="1158651" cy="221599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00" b="1" dirty="0">
                <a:solidFill>
                  <a:srgbClr val="17523D"/>
                </a:solidFill>
                <a:latin typeface="Aptos"/>
              </a:rPr>
              <a:t>KEY 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7419" y="5926831"/>
            <a:ext cx="9243151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dirty="0">
                <a:solidFill>
                  <a:srgbClr val="1C2320"/>
                </a:solidFill>
                <a:latin typeface="Aptos"/>
              </a:rPr>
              <a:t>The core issue is fragmented information and unclear process ownership, creating waiting, rework and longer lead time. The countermeasures directly address those root causes.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M 02">
      <a:dk1>
        <a:srgbClr val="1F4D3A"/>
      </a:dk1>
      <a:lt1>
        <a:srgbClr val="F8F7F2"/>
      </a:lt1>
      <a:dk2>
        <a:srgbClr val="303030"/>
      </a:dk2>
      <a:lt2>
        <a:srgbClr val="333333"/>
      </a:lt2>
      <a:accent1>
        <a:srgbClr val="2E6B4F"/>
      </a:accent1>
      <a:accent2>
        <a:srgbClr val="8FAF9B"/>
      </a:accent2>
      <a:accent3>
        <a:srgbClr val="196B24"/>
      </a:accent3>
      <a:accent4>
        <a:srgbClr val="C5A35D"/>
      </a:accent4>
      <a:accent5>
        <a:srgbClr val="B76E5D"/>
      </a:accent5>
      <a:accent6>
        <a:srgbClr val="788659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372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Rinku KS</cp:lastModifiedBy>
  <cp:revision>4</cp:revision>
  <dcterms:created xsi:type="dcterms:W3CDTF">2013-01-27T09:14:16Z</dcterms:created>
  <dcterms:modified xsi:type="dcterms:W3CDTF">2026-08-16T09:39:25Z</dcterms:modified>
  <cp:category/>
</cp:coreProperties>
</file>