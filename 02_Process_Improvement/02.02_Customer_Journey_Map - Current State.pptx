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5943"/>
    <a:srgbClr val="3D3D3D"/>
    <a:srgbClr val="BBECBA"/>
    <a:srgbClr val="F5F1E8"/>
    <a:srgbClr val="E4EADF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13"/>
    <p:restoredTop sz="94771"/>
  </p:normalViewPr>
  <p:slideViewPr>
    <p:cSldViewPr snapToGrid="0">
      <p:cViewPr varScale="1">
        <p:scale>
          <a:sx n="88" d="100"/>
          <a:sy n="88" d="100"/>
        </p:scale>
        <p:origin x="10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0A59-671F-0611-546A-24017066F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461B2-C2FD-CAB2-8A76-E50CA3342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C2CAE-D119-07B0-523F-D6061B33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78988-6652-06CB-CCDC-ED8787EB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CB983-819E-09B3-86EE-0E9E805EB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08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D913-DE8B-169D-5C54-D478CB0C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F7388-35B1-2F7E-92E1-5243EE4E9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F5ADA-0D69-7125-6769-F4E1EA90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AF92E-239A-F97C-EF76-E3D76DCB4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D1949-80E7-6C63-0533-0DC29D35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3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C8D1B-7AA3-4E99-D7AB-7CCADF5CE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6D770-AC86-C81B-349A-01C434625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1922-43C4-C175-4C62-F78754FE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24565-683E-5BA2-FC86-746E2803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35CE6-DDE4-EB70-B72F-00F996F9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78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3E0F-FAF8-8C24-921A-188E85FE5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C5428-1B4C-AC93-2EFD-4D8F5F4DD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2665E-4E31-B416-4EA4-1DCB0F718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BC117-886A-5A12-D27E-9616FA7E8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6FF2D-AEF3-B9A5-963C-C43065217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07A46-CB18-CAEA-A1C6-D42C634F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88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A3D2-5337-7540-4409-FE54D1B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BC558-2AA7-696D-23D1-0FB2947F7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DE145-D350-7736-2291-1D0EE04C3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FD68D-119E-A493-6A54-34AD2E2A5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FD5048-4F9B-CBDB-9F2F-C388EE999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FFB25A-40A1-F905-A960-322E5CEB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38D828-7DA7-6210-27C4-7A515758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0F3E3C-11F6-5F4D-BE59-4080B7B8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91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007E5-778A-611F-F242-D40EE1A0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504F6-7DAB-4B17-4EFF-53B814239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59F00-335A-1369-1924-27E4230D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BB2C4-5F61-7496-8916-22C1E854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3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62031-C8D2-EC87-57E7-387BEBB8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BBA637-D2E3-ABE4-92C8-37B9A53B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90323-0109-D41C-B5C0-D57801BA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44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C6E8-7267-FDA9-89AA-9F73A0B7F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B694-65EC-078F-3D92-8CEB1DF4C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E3155-D8A2-EFBE-9EAA-2B64926F1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A9439-6F96-CFA8-05C9-318E1BE7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74432-58FA-0C0F-8A8B-774AA456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5D842-9B3B-40D2-0CC9-EAEDAA62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8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8BFBD-EF19-CDB5-FC6C-25FD9DB5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5CBDD9-4040-A82F-3810-666F5BF5F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B3BDA-ECEF-A330-1B69-FDC522409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EB4AB-C3B0-89C1-2C3D-3C028DD1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31AB8-63A6-31A3-83C5-CC8F0C33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D100D-CA4E-AF68-8504-7F1D1AC4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26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39124-788A-ADD8-AC9C-2BDF6372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CEE773-627B-6FA7-1A75-77B060924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29435-8F65-7605-898D-3ECD7561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0D2C5-0B27-4D57-AC95-83BD365D9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1B001-D93B-83D4-1946-DEC7DE9E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7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B1EF61-B20C-49B8-82D8-8949EACBE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00AFE-D896-11F5-7A4F-8F2377C04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24345-30B7-716A-D849-8B582969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68784-6622-1D91-9588-EFD5F6057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8D8C8-1E18-48C2-3E73-4B3185ADC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DB360-68BB-E156-A45A-CB044449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90018-16B2-1D07-68A2-3DCF6F156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86FBF-B2FD-AF7A-54E1-CBD58D475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D7F7C-20D5-E948-B600-4D9129BBC1A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0412E-856E-E628-308C-F7A39F618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B5BB3-C79C-897A-5622-37FBE031F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6352D-0503-2840-B327-6EE7B1FF3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9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7F2AC10-2100-9995-DD75-00FAA93AFD71}"/>
              </a:ext>
            </a:extLst>
          </p:cNvPr>
          <p:cNvSpPr txBox="1"/>
          <p:nvPr/>
        </p:nvSpPr>
        <p:spPr>
          <a:xfrm>
            <a:off x="333828" y="275772"/>
            <a:ext cx="3928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285943"/>
                </a:solidFill>
              </a:rPr>
              <a:t>Customer Journey Map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CD0E5F-330F-F3B9-8A7E-E9DBA251BBC1}"/>
              </a:ext>
            </a:extLst>
          </p:cNvPr>
          <p:cNvSpPr txBox="1"/>
          <p:nvPr/>
        </p:nvSpPr>
        <p:spPr>
          <a:xfrm>
            <a:off x="333828" y="798992"/>
            <a:ext cx="527849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3D3D3D"/>
                </a:solidFill>
              </a:rPr>
              <a:t>Scenario: Customer wants to check the status of  an existing service/request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6DBB34-B0AB-6D6A-A4E9-4CD4CE1AAA50}"/>
              </a:ext>
            </a:extLst>
          </p:cNvPr>
          <p:cNvSpPr txBox="1"/>
          <p:nvPr/>
        </p:nvSpPr>
        <p:spPr>
          <a:xfrm>
            <a:off x="5957688" y="351926"/>
            <a:ext cx="5675085" cy="461665"/>
          </a:xfrm>
          <a:prstGeom prst="rect">
            <a:avLst/>
          </a:prstGeom>
          <a:noFill/>
          <a:ln w="31750">
            <a:solidFill>
              <a:srgbClr val="E4EADF"/>
            </a:solidFill>
            <a:prstDash val="dash"/>
          </a:ln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D3D3D"/>
                </a:solidFill>
              </a:rPr>
              <a:t>Purpose: Understand the customer experience across the current process and identify pain points and opportunities for improvement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130C61-5DDE-8EAE-1D5E-DA4AB7AFF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866935"/>
              </p:ext>
            </p:extLst>
          </p:nvPr>
        </p:nvGraphicFramePr>
        <p:xfrm>
          <a:off x="646376" y="1193960"/>
          <a:ext cx="10566311" cy="5586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473">
                  <a:extLst>
                    <a:ext uri="{9D8B030D-6E8A-4147-A177-3AD203B41FA5}">
                      <a16:colId xmlns:a16="http://schemas.microsoft.com/office/drawing/2014/main" val="2279277854"/>
                    </a:ext>
                  </a:extLst>
                </a:gridCol>
                <a:gridCol w="1509473">
                  <a:extLst>
                    <a:ext uri="{9D8B030D-6E8A-4147-A177-3AD203B41FA5}">
                      <a16:colId xmlns:a16="http://schemas.microsoft.com/office/drawing/2014/main" val="1856793289"/>
                    </a:ext>
                  </a:extLst>
                </a:gridCol>
                <a:gridCol w="1509473">
                  <a:extLst>
                    <a:ext uri="{9D8B030D-6E8A-4147-A177-3AD203B41FA5}">
                      <a16:colId xmlns:a16="http://schemas.microsoft.com/office/drawing/2014/main" val="1955840272"/>
                    </a:ext>
                  </a:extLst>
                </a:gridCol>
                <a:gridCol w="1509473">
                  <a:extLst>
                    <a:ext uri="{9D8B030D-6E8A-4147-A177-3AD203B41FA5}">
                      <a16:colId xmlns:a16="http://schemas.microsoft.com/office/drawing/2014/main" val="1686691161"/>
                    </a:ext>
                  </a:extLst>
                </a:gridCol>
                <a:gridCol w="1509473">
                  <a:extLst>
                    <a:ext uri="{9D8B030D-6E8A-4147-A177-3AD203B41FA5}">
                      <a16:colId xmlns:a16="http://schemas.microsoft.com/office/drawing/2014/main" val="4098256050"/>
                    </a:ext>
                  </a:extLst>
                </a:gridCol>
                <a:gridCol w="1509473">
                  <a:extLst>
                    <a:ext uri="{9D8B030D-6E8A-4147-A177-3AD203B41FA5}">
                      <a16:colId xmlns:a16="http://schemas.microsoft.com/office/drawing/2014/main" val="3687181939"/>
                    </a:ext>
                  </a:extLst>
                </a:gridCol>
                <a:gridCol w="1509473">
                  <a:extLst>
                    <a:ext uri="{9D8B030D-6E8A-4147-A177-3AD203B41FA5}">
                      <a16:colId xmlns:a16="http://schemas.microsoft.com/office/drawing/2014/main" val="1438142915"/>
                    </a:ext>
                  </a:extLst>
                </a:gridCol>
              </a:tblGrid>
              <a:tr h="591197"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rgbClr val="E4EADF"/>
                          </a:solidFill>
                          <a:latin typeface="+mn-lt"/>
                          <a:ea typeface="+mn-ea"/>
                          <a:cs typeface="+mn-cs"/>
                        </a:rPr>
                        <a:t>Journey </a:t>
                      </a:r>
                    </a:p>
                    <a:p>
                      <a:r>
                        <a:rPr lang="en-US" sz="1200" b="1" kern="1200" dirty="0">
                          <a:solidFill>
                            <a:srgbClr val="E4EADF"/>
                          </a:solidFill>
                          <a:latin typeface="+mn-lt"/>
                          <a:ea typeface="+mn-ea"/>
                          <a:cs typeface="+mn-cs"/>
                        </a:rPr>
                        <a:t>Stage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594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890779"/>
                  </a:ext>
                </a:extLst>
              </a:tr>
              <a:tr h="682955"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Customer </a:t>
                      </a:r>
                    </a:p>
                    <a:p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Actions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85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Customer wants to know the status of an existing service/request.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Contacts support via phone or email to request an update.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Provides account details and verify identity with the agent.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Waits while the agent checks one or more internal system.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Receives status update from the agent (phone call or email).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Contacts support again if information is unclear, incomplete, or outdated.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E4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173562"/>
                  </a:ext>
                </a:extLst>
              </a:tr>
              <a:tr h="591197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E4EADF"/>
                          </a:solidFill>
                        </a:rPr>
                        <a:t>Touchpoint/</a:t>
                      </a:r>
                    </a:p>
                    <a:p>
                      <a:r>
                        <a:rPr lang="en-US" sz="1200" b="1" dirty="0">
                          <a:solidFill>
                            <a:srgbClr val="E4EADF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2859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rgbClr val="3D3D3D"/>
                        </a:solidFill>
                      </a:endParaRPr>
                    </a:p>
                    <a:p>
                      <a:pPr algn="ctr"/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rgbClr val="3D3D3D"/>
                        </a:solidFill>
                      </a:endParaRPr>
                    </a:p>
                    <a:p>
                      <a:pPr algn="ctr"/>
                      <a:endParaRPr lang="en-US" sz="1100" dirty="0">
                        <a:solidFill>
                          <a:srgbClr val="3D3D3D"/>
                        </a:solidFill>
                      </a:endParaRPr>
                    </a:p>
                    <a:p>
                      <a:pPr algn="ctr"/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Phone / Email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Support Agent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Internal Systems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Phone / Email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Phone / Email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801142"/>
                  </a:ext>
                </a:extLst>
              </a:tr>
              <a:tr h="591197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E4EADF"/>
                          </a:solidFill>
                        </a:rPr>
                        <a:t>Customer</a:t>
                      </a:r>
                    </a:p>
                    <a:p>
                      <a:r>
                        <a:rPr lang="en-US" sz="1200" b="1" dirty="0">
                          <a:solidFill>
                            <a:srgbClr val="E4EADF"/>
                          </a:solidFill>
                        </a:rPr>
                        <a:t>Need</a:t>
                      </a:r>
                    </a:p>
                  </a:txBody>
                  <a:tcPr>
                    <a:solidFill>
                      <a:srgbClr val="285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Quick and easy way to check status.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Easy access to someone who can help.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Fast verification without repeating information.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Accurate, real-time </a:t>
                      </a:r>
                      <a:r>
                        <a:rPr lang="en-US" sz="1100" kern="120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status information</a:t>
                      </a:r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Clear, complete, and reliable update.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Resolution without having to chase multiple times.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673346"/>
                  </a:ext>
                </a:extLst>
              </a:tr>
              <a:tr h="68295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E4EADF"/>
                          </a:solidFill>
                        </a:rPr>
                        <a:t>Pain</a:t>
                      </a:r>
                    </a:p>
                    <a:p>
                      <a:r>
                        <a:rPr lang="en-US" sz="1200" b="1" dirty="0">
                          <a:solidFill>
                            <a:srgbClr val="E4EADF"/>
                          </a:solidFill>
                        </a:rPr>
                        <a:t>Point</a:t>
                      </a:r>
                    </a:p>
                  </a:txBody>
                  <a:tcPr>
                    <a:solidFill>
                      <a:srgbClr val="285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No self-service option to check status.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Long wait times.</a:t>
                      </a:r>
                    </a:p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Queues / hold time.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Repeats information already on the file.</a:t>
                      </a:r>
                    </a:p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Time-consuming.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Agent searches systems; handoffs may be needed.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Information may be incomplete.</a:t>
                      </a:r>
                    </a:p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May not answer all questions.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Need to contact again.</a:t>
                      </a:r>
                    </a:p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Frustration due to delays / repetition.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991320"/>
                  </a:ext>
                </a:extLst>
              </a:tr>
              <a:tr h="479527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E4EADF"/>
                          </a:solidFill>
                        </a:rPr>
                        <a:t>Emotion</a:t>
                      </a:r>
                    </a:p>
                  </a:txBody>
                  <a:tcPr>
                    <a:solidFill>
                      <a:srgbClr val="2859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rgbClr val="3D3D3D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Neutral</a:t>
                      </a:r>
                    </a:p>
                    <a:p>
                      <a:endParaRPr lang="en-US" sz="1100" dirty="0">
                        <a:solidFill>
                          <a:srgbClr val="3D3D3D"/>
                        </a:solidFill>
                      </a:endParaRP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3D3D3D"/>
                        </a:solidFill>
                      </a:endParaRPr>
                    </a:p>
                    <a:p>
                      <a:pPr algn="ctr"/>
                      <a:r>
                        <a:rPr lang="en-US" sz="1100" dirty="0">
                          <a:solidFill>
                            <a:srgbClr val="3D3D3D"/>
                          </a:solidFill>
                        </a:rPr>
                        <a:t>Frustrated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Neutral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Anxious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Relieved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Frustrated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415011"/>
                  </a:ext>
                </a:extLst>
              </a:tr>
              <a:tr h="98345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E4EADF"/>
                          </a:solidFill>
                        </a:rPr>
                        <a:t>Opportunity</a:t>
                      </a:r>
                    </a:p>
                  </a:txBody>
                  <a:tcPr>
                    <a:solidFill>
                      <a:srgbClr val="285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Provide self-service visibility of requests.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Digital channel with real-time access.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Secure login/single sign-on.</a:t>
                      </a:r>
                    </a:p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Auto-fetch customer information.</a:t>
                      </a:r>
                    </a:p>
                    <a:p>
                      <a:endParaRPr lang="en-US" sz="1100" kern="120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Self-service status visibility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In-app status dashboard.</a:t>
                      </a:r>
                    </a:p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Clear, complete information.</a:t>
                      </a:r>
                    </a:p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Proactive notifications.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Reduce need for follow-up through better visibility &amp; </a:t>
                      </a:r>
                    </a:p>
                  </a:txBody>
                  <a:tcPr>
                    <a:solidFill>
                      <a:srgbClr val="E4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685228"/>
                  </a:ext>
                </a:extLst>
              </a:tr>
              <a:tr h="591197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E4EADF"/>
                          </a:solidFill>
                        </a:rPr>
                        <a:t>Key</a:t>
                      </a:r>
                    </a:p>
                    <a:p>
                      <a:r>
                        <a:rPr lang="en-US" sz="1200" b="1" dirty="0">
                          <a:solidFill>
                            <a:srgbClr val="E4EADF"/>
                          </a:solidFill>
                        </a:rPr>
                        <a:t>Insight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8594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4E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4E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4E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4E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4EA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4E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4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410472"/>
                  </a:ext>
                </a:extLst>
              </a:tr>
            </a:tbl>
          </a:graphicData>
        </a:graphic>
      </p:graphicFrame>
      <p:sp>
        <p:nvSpPr>
          <p:cNvPr id="22" name="Pentagon 21">
            <a:extLst>
              <a:ext uri="{FF2B5EF4-FFF2-40B4-BE49-F238E27FC236}">
                <a16:creationId xmlns:a16="http://schemas.microsoft.com/office/drawing/2014/main" id="{CF2F4B53-E2B5-F1C1-313B-B0839AE824FD}"/>
              </a:ext>
            </a:extLst>
          </p:cNvPr>
          <p:cNvSpPr/>
          <p:nvPr/>
        </p:nvSpPr>
        <p:spPr>
          <a:xfrm>
            <a:off x="2239971" y="1208559"/>
            <a:ext cx="1306681" cy="564522"/>
          </a:xfrm>
          <a:prstGeom prst="homePlate">
            <a:avLst/>
          </a:prstGeom>
          <a:solidFill>
            <a:srgbClr val="E4EADF"/>
          </a:solidFill>
          <a:ln>
            <a:solidFill>
              <a:srgbClr val="285943">
                <a:alpha val="31860"/>
              </a:srgbClr>
            </a:solidFill>
          </a:ln>
          <a:effectLst>
            <a:glow rad="63500">
              <a:srgbClr val="285943">
                <a:alpha val="27995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ctr">
              <a:buAutoNum type="arabicPeriod"/>
            </a:pPr>
            <a:r>
              <a:rPr lang="en-US" sz="1200" b="1" dirty="0">
                <a:solidFill>
                  <a:srgbClr val="285943"/>
                </a:solidFill>
              </a:rPr>
              <a:t>Need </a:t>
            </a:r>
          </a:p>
          <a:p>
            <a:pPr algn="ctr"/>
            <a:r>
              <a:rPr lang="en-US" sz="1200" b="1" dirty="0">
                <a:solidFill>
                  <a:srgbClr val="285943"/>
                </a:solidFill>
              </a:rPr>
              <a:t>Identified</a:t>
            </a:r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3008645C-5373-4B06-62D3-80A26674CCE7}"/>
              </a:ext>
            </a:extLst>
          </p:cNvPr>
          <p:cNvSpPr/>
          <p:nvPr/>
        </p:nvSpPr>
        <p:spPr>
          <a:xfrm>
            <a:off x="3741949" y="1208559"/>
            <a:ext cx="1306800" cy="565200"/>
          </a:xfrm>
          <a:prstGeom prst="homePlate">
            <a:avLst/>
          </a:prstGeom>
          <a:solidFill>
            <a:srgbClr val="E4EADF"/>
          </a:solidFill>
          <a:ln>
            <a:solidFill>
              <a:srgbClr val="285943">
                <a:alpha val="31860"/>
              </a:srgbClr>
            </a:solidFill>
          </a:ln>
          <a:effectLst>
            <a:glow rad="63500">
              <a:srgbClr val="285943">
                <a:alpha val="27995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85943"/>
                </a:solidFill>
              </a:rPr>
              <a:t>2. Contact Support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6C70D296-A3DF-D765-9463-46B117400322}"/>
              </a:ext>
            </a:extLst>
          </p:cNvPr>
          <p:cNvSpPr/>
          <p:nvPr/>
        </p:nvSpPr>
        <p:spPr>
          <a:xfrm>
            <a:off x="5260060" y="1208559"/>
            <a:ext cx="1306800" cy="568800"/>
          </a:xfrm>
          <a:prstGeom prst="homePlate">
            <a:avLst/>
          </a:prstGeom>
          <a:solidFill>
            <a:srgbClr val="E4EADF"/>
          </a:solidFill>
          <a:ln>
            <a:solidFill>
              <a:srgbClr val="285943">
                <a:alpha val="31860"/>
              </a:srgbClr>
            </a:solidFill>
          </a:ln>
          <a:effectLst>
            <a:glow rad="63500">
              <a:srgbClr val="285943">
                <a:alpha val="27995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85943"/>
                </a:solidFill>
              </a:rPr>
              <a:t>3. Verification</a:t>
            </a:r>
          </a:p>
        </p:txBody>
      </p:sp>
      <p:sp>
        <p:nvSpPr>
          <p:cNvPr id="25" name="Pentagon 24">
            <a:extLst>
              <a:ext uri="{FF2B5EF4-FFF2-40B4-BE49-F238E27FC236}">
                <a16:creationId xmlns:a16="http://schemas.microsoft.com/office/drawing/2014/main" id="{BFDCC34E-B991-B03D-37BA-7B1747A5F2FC}"/>
              </a:ext>
            </a:extLst>
          </p:cNvPr>
          <p:cNvSpPr/>
          <p:nvPr/>
        </p:nvSpPr>
        <p:spPr>
          <a:xfrm>
            <a:off x="6762157" y="1208559"/>
            <a:ext cx="1306800" cy="568800"/>
          </a:xfrm>
          <a:prstGeom prst="homePlate">
            <a:avLst/>
          </a:prstGeom>
          <a:solidFill>
            <a:srgbClr val="E4EADF"/>
          </a:solidFill>
          <a:ln>
            <a:solidFill>
              <a:srgbClr val="285943">
                <a:alpha val="31860"/>
              </a:srgbClr>
            </a:solidFill>
          </a:ln>
          <a:effectLst>
            <a:glow rad="63500">
              <a:srgbClr val="285943">
                <a:alpha val="27995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85943"/>
                </a:solidFill>
              </a:rPr>
              <a:t>4. Status Search</a:t>
            </a:r>
          </a:p>
        </p:txBody>
      </p:sp>
      <p:sp>
        <p:nvSpPr>
          <p:cNvPr id="26" name="Pentagon 25">
            <a:extLst>
              <a:ext uri="{FF2B5EF4-FFF2-40B4-BE49-F238E27FC236}">
                <a16:creationId xmlns:a16="http://schemas.microsoft.com/office/drawing/2014/main" id="{1B03A643-E153-22E2-6570-B2824F03F6BB}"/>
              </a:ext>
            </a:extLst>
          </p:cNvPr>
          <p:cNvSpPr/>
          <p:nvPr/>
        </p:nvSpPr>
        <p:spPr>
          <a:xfrm>
            <a:off x="8280269" y="1208559"/>
            <a:ext cx="1306800" cy="568800"/>
          </a:xfrm>
          <a:prstGeom prst="homePlate">
            <a:avLst/>
          </a:prstGeom>
          <a:solidFill>
            <a:srgbClr val="E4EADF"/>
          </a:solidFill>
          <a:ln>
            <a:solidFill>
              <a:srgbClr val="285943">
                <a:alpha val="31860"/>
              </a:srgbClr>
            </a:solidFill>
          </a:ln>
          <a:effectLst>
            <a:glow rad="63500">
              <a:srgbClr val="285943">
                <a:alpha val="27995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285943"/>
                </a:solidFill>
              </a:rPr>
              <a:t>5. Receive Update</a:t>
            </a:r>
            <a:endParaRPr lang="en-US" sz="1200" b="1" dirty="0">
              <a:solidFill>
                <a:srgbClr val="285943"/>
              </a:solidFill>
            </a:endParaRP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360362F0-B83C-3336-3968-45A436470937}"/>
              </a:ext>
            </a:extLst>
          </p:cNvPr>
          <p:cNvSpPr/>
          <p:nvPr/>
        </p:nvSpPr>
        <p:spPr>
          <a:xfrm>
            <a:off x="9798381" y="1208559"/>
            <a:ext cx="1306800" cy="568800"/>
          </a:xfrm>
          <a:prstGeom prst="homePlate">
            <a:avLst/>
          </a:prstGeom>
          <a:solidFill>
            <a:srgbClr val="E4EADF"/>
          </a:solidFill>
          <a:ln>
            <a:solidFill>
              <a:srgbClr val="285943">
                <a:alpha val="31860"/>
              </a:srgbClr>
            </a:solidFill>
          </a:ln>
          <a:effectLst>
            <a:glow rad="63500">
              <a:srgbClr val="285943">
                <a:alpha val="27995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85943"/>
                </a:solidFill>
              </a:rPr>
              <a:t>6. Follow-up (if required)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35A4FC-310F-09F4-B341-3181BE764840}"/>
              </a:ext>
            </a:extLst>
          </p:cNvPr>
          <p:cNvSpPr txBox="1"/>
          <p:nvPr/>
        </p:nvSpPr>
        <p:spPr>
          <a:xfrm>
            <a:off x="2642609" y="6282936"/>
            <a:ext cx="890301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3D3D3D"/>
                </a:solidFill>
              </a:rPr>
              <a:t>Customers experience delays, repetition, and uncertainty primarily due to lack of self-service visibility and manual internal processes.</a:t>
            </a:r>
          </a:p>
          <a:p>
            <a:r>
              <a:rPr lang="en-US" sz="1100" dirty="0">
                <a:solidFill>
                  <a:srgbClr val="3D3D3D"/>
                </a:solidFill>
              </a:rPr>
              <a:t>The biggest opportunity is to provide real-time status visibility and proactive updates through a  digital self-service platform</a:t>
            </a:r>
            <a:r>
              <a:rPr lang="en-US" sz="1200" dirty="0">
                <a:solidFill>
                  <a:srgbClr val="3D3D3D"/>
                </a:solidFill>
              </a:rPr>
              <a:t>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70BA566-4C90-1AF3-F7BC-BD5CEE261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626" y="4554226"/>
            <a:ext cx="182874" cy="18287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C081767-8E74-539D-7233-1827E682B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814" y="4554226"/>
            <a:ext cx="182874" cy="18287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7655962-B067-C891-CC93-CF763AE1E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349" y="4555318"/>
            <a:ext cx="182874" cy="18287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631216E-04DA-6BCA-3032-29CC1F917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4554226"/>
            <a:ext cx="182874" cy="18287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C6EC579-6E2E-68AD-0B72-0748374E1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344" y="4555318"/>
            <a:ext cx="182874" cy="18287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D9DAB68-F831-A4DD-D343-3E4FE4298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9485" y="4554226"/>
            <a:ext cx="179188" cy="179188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4C25213-AB09-1523-FA70-0D9108554C59}"/>
              </a:ext>
            </a:extLst>
          </p:cNvPr>
          <p:cNvGrpSpPr/>
          <p:nvPr/>
        </p:nvGrpSpPr>
        <p:grpSpPr>
          <a:xfrm>
            <a:off x="4114563" y="2711306"/>
            <a:ext cx="611946" cy="179188"/>
            <a:chOff x="4114563" y="2711306"/>
            <a:chExt cx="611946" cy="179188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2493727-7810-F545-77F6-4874FE46B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14563" y="2711306"/>
              <a:ext cx="179188" cy="179188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F3D50FD-199F-05E8-F363-36C5566D3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47321" y="2711306"/>
              <a:ext cx="179188" cy="179188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57F480-1924-08E5-957F-AE593B71C7AB}"/>
              </a:ext>
            </a:extLst>
          </p:cNvPr>
          <p:cNvGrpSpPr/>
          <p:nvPr/>
        </p:nvGrpSpPr>
        <p:grpSpPr>
          <a:xfrm>
            <a:off x="8627696" y="2724105"/>
            <a:ext cx="611946" cy="179188"/>
            <a:chOff x="4114563" y="2711306"/>
            <a:chExt cx="611946" cy="179188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090D8F9-8951-F374-57A7-9BF9E861F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14563" y="2711306"/>
              <a:ext cx="179188" cy="179188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82925339-BF85-DC32-FEE7-86E40E745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47321" y="2711306"/>
              <a:ext cx="179188" cy="179188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75F2A4-EE01-F6E5-C080-B884A270B93D}"/>
              </a:ext>
            </a:extLst>
          </p:cNvPr>
          <p:cNvGrpSpPr/>
          <p:nvPr/>
        </p:nvGrpSpPr>
        <p:grpSpPr>
          <a:xfrm>
            <a:off x="10145808" y="2724105"/>
            <a:ext cx="611946" cy="179188"/>
            <a:chOff x="4114563" y="2711306"/>
            <a:chExt cx="611946" cy="179188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F9DEA957-7FFE-E8A9-9F95-E3C3BC594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14563" y="2711306"/>
              <a:ext cx="179188" cy="179188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75CFD07E-4759-E992-B81B-F23C4D064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47321" y="2711306"/>
              <a:ext cx="179188" cy="179188"/>
            </a:xfrm>
            <a:prstGeom prst="rect">
              <a:avLst/>
            </a:prstGeom>
          </p:spPr>
        </p:pic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FAF6A7DD-316E-B9A2-8299-CC6C42A33C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5439" y="2687038"/>
            <a:ext cx="182874" cy="18287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6076A9F-35D6-C79C-C0B7-4CA80D170E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5963" y="2687038"/>
            <a:ext cx="179188" cy="17918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5C2400A-BB0B-71F1-80EB-E32073B06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8700" y="6379980"/>
            <a:ext cx="230328" cy="23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293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347</Words>
  <Application>Microsoft Macintosh PowerPoint</Application>
  <PresentationFormat>Widescreen</PresentationFormat>
  <Paragraphs>86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Rinku KS</dc:creator>
  <cp:lastModifiedBy>Rinku KS</cp:lastModifiedBy>
  <cp:revision>6</cp:revision>
  <dcterms:created xsi:type="dcterms:W3CDTF">2026-08-13T05:49:55Z</dcterms:created>
  <dcterms:modified xsi:type="dcterms:W3CDTF">2026-08-16T09:31:31Z</dcterms:modified>
</cp:coreProperties>
</file>