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30"/>
    <p:restoredTop sz="94679"/>
  </p:normalViewPr>
  <p:slideViewPr>
    <p:cSldViewPr snapToGrid="0" snapToObjects="1">
      <p:cViewPr varScale="1">
        <p:scale>
          <a:sx n="88" d="100"/>
          <a:sy n="88" d="100"/>
        </p:scale>
        <p:origin x="48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9167" y="162640"/>
            <a:ext cx="5777159" cy="4678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800" b="1" dirty="0">
                <a:solidFill>
                  <a:srgbClr val="17523D"/>
                </a:solidFill>
                <a:latin typeface="Aptos"/>
              </a:rPr>
              <a:t>FUTURE</a:t>
            </a:r>
            <a:r>
              <a:rPr lang="en-US" sz="2800" b="1" dirty="0">
                <a:solidFill>
                  <a:srgbClr val="17523D"/>
                </a:solidFill>
                <a:latin typeface="Aptos"/>
              </a:rPr>
              <a:t>-</a:t>
            </a:r>
            <a:r>
              <a:rPr sz="2800" b="1" dirty="0">
                <a:solidFill>
                  <a:srgbClr val="17523D"/>
                </a:solidFill>
                <a:latin typeface="Aptos"/>
              </a:rPr>
              <a:t>STATE VALUE STREAM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1037" y="669563"/>
            <a:ext cx="4703339" cy="20621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lang="en-US" sz="1100" b="0" dirty="0">
                <a:solidFill>
                  <a:srgbClr val="232A27"/>
                </a:solidFill>
                <a:latin typeface="Aptos"/>
              </a:rPr>
              <a:t>Designed state</a:t>
            </a:r>
            <a:r>
              <a:rPr sz="1100" b="0" dirty="0">
                <a:solidFill>
                  <a:srgbClr val="232A27"/>
                </a:solidFill>
                <a:latin typeface="Aptos"/>
              </a:rPr>
              <a:t>: Customer requests an update on an existing service/request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1524" y="164592"/>
            <a:ext cx="3977639" cy="576072"/>
          </a:xfrm>
          <a:prstGeom prst="roundRect">
            <a:avLst/>
          </a:prstGeom>
          <a:solidFill>
            <a:srgbClr val="DC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79384" y="341828"/>
            <a:ext cx="3858300" cy="221599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200" b="1" dirty="0">
                <a:solidFill>
                  <a:srgbClr val="17523D"/>
                </a:solidFill>
                <a:latin typeface="Aptos"/>
              </a:rPr>
              <a:t>TARGET: Lead time ≤ 6</a:t>
            </a:r>
            <a:r>
              <a:rPr lang="en-US" sz="1200" b="1" dirty="0">
                <a:solidFill>
                  <a:srgbClr val="17523D"/>
                </a:solidFill>
                <a:latin typeface="Aptos"/>
              </a:rPr>
              <a:t>5 </a:t>
            </a:r>
            <a:r>
              <a:rPr sz="1200" b="1" dirty="0">
                <a:solidFill>
                  <a:srgbClr val="17523D"/>
                </a:solidFill>
                <a:latin typeface="Aptos"/>
              </a:rPr>
              <a:t>min  |  Waiting time ≥ 40% lower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6338" y="973836"/>
            <a:ext cx="2154564" cy="20621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100" b="1" dirty="0">
                <a:solidFill>
                  <a:srgbClr val="17523D"/>
                </a:solidFill>
                <a:latin typeface="Aptos"/>
              </a:rPr>
              <a:t>IMPROVED INFORMATION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280" y="1325880"/>
            <a:ext cx="1059200" cy="406265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200" b="1" dirty="0">
                <a:solidFill>
                  <a:srgbClr val="17523D"/>
                </a:solidFill>
                <a:latin typeface="Aptos"/>
              </a:rPr>
              <a:t>CUSTOMER
Portal / Phone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8877" y="1342203"/>
            <a:ext cx="1220206" cy="406265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200" b="1" dirty="0">
                <a:solidFill>
                  <a:srgbClr val="17523D"/>
                </a:solidFill>
                <a:latin typeface="Aptos"/>
              </a:rPr>
              <a:t>UNIFIED STATUS
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2480" y="1354675"/>
            <a:ext cx="1086067" cy="406265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200" b="1" dirty="0">
                <a:solidFill>
                  <a:srgbClr val="17523D"/>
                </a:solidFill>
                <a:latin typeface="Aptos"/>
              </a:rPr>
              <a:t>SUPPORT
SYSTEM / CRM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9363" y="1354675"/>
            <a:ext cx="1164165" cy="406265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200" b="1" dirty="0">
                <a:solidFill>
                  <a:srgbClr val="17523D"/>
                </a:solidFill>
                <a:latin typeface="Aptos"/>
              </a:rPr>
              <a:t>INTEGRATED
DATA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7642" y="1325880"/>
            <a:ext cx="1256883" cy="406265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200" b="1" dirty="0">
                <a:solidFill>
                  <a:srgbClr val="17523D"/>
                </a:solidFill>
                <a:latin typeface="Aptos"/>
              </a:rPr>
              <a:t>CUSTOMER
Proactive update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993392"/>
            <a:ext cx="1417320" cy="731520"/>
          </a:xfrm>
          <a:prstGeom prst="roundRect">
            <a:avLst/>
          </a:prstGeom>
          <a:solidFill>
            <a:srgbClr val="DC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6061" y="2075688"/>
            <a:ext cx="716798" cy="406265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200" b="1" dirty="0">
                <a:solidFill>
                  <a:srgbClr val="232A27"/>
                </a:solidFill>
                <a:latin typeface="Aptos"/>
              </a:rPr>
              <a:t>Request
Received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5" y="1901952"/>
            <a:ext cx="320040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12264" y="2194560"/>
            <a:ext cx="411480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700" b="1">
                <a:solidFill>
                  <a:srgbClr val="17523D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1993392"/>
            <a:ext cx="1417320" cy="731520"/>
          </a:xfrm>
          <a:prstGeom prst="roundRect">
            <a:avLst/>
          </a:prstGeom>
          <a:solidFill>
            <a:srgbClr val="DC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63777" y="2075688"/>
            <a:ext cx="1010405" cy="406265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200" b="1" dirty="0">
                <a:solidFill>
                  <a:srgbClr val="232A27"/>
                </a:solidFill>
                <a:latin typeface="Aptos"/>
              </a:rPr>
              <a:t>Self-service
Status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9815" y="1901952"/>
            <a:ext cx="320040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86783" y="2194560"/>
            <a:ext cx="411480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700" b="1">
                <a:solidFill>
                  <a:srgbClr val="17523D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1993392"/>
            <a:ext cx="1417320" cy="731520"/>
          </a:xfrm>
          <a:prstGeom prst="roundRect">
            <a:avLst/>
          </a:prstGeom>
          <a:solidFill>
            <a:srgbClr val="DC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04149" y="2075688"/>
            <a:ext cx="878702" cy="406265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232A27"/>
                </a:solidFill>
                <a:latin typeface="Aptos"/>
              </a:rPr>
              <a:t>Automated
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74336" y="1901952"/>
            <a:ext cx="320040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61304" y="2194560"/>
            <a:ext cx="411480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700" b="1">
                <a:solidFill>
                  <a:srgbClr val="17523D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993392"/>
            <a:ext cx="1417320" cy="731520"/>
          </a:xfrm>
          <a:prstGeom prst="roundRect">
            <a:avLst/>
          </a:prstGeom>
          <a:solidFill>
            <a:srgbClr val="DC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26543" y="2075688"/>
            <a:ext cx="1182953" cy="406265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232A27"/>
                </a:solidFill>
                <a:latin typeface="Aptos"/>
              </a:rPr>
              <a:t>Integrated
Status Retrieval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8856" y="1901952"/>
            <a:ext cx="320040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35824" y="2194560"/>
            <a:ext cx="411480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700" b="1">
                <a:solidFill>
                  <a:srgbClr val="17523D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1993392"/>
            <a:ext cx="1417320" cy="731520"/>
          </a:xfrm>
          <a:prstGeom prst="roundRect">
            <a:avLst/>
          </a:prstGeom>
          <a:solidFill>
            <a:srgbClr val="DC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57745" y="2075688"/>
            <a:ext cx="1069588" cy="406265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232A27"/>
                </a:solidFill>
                <a:latin typeface="Aptos"/>
              </a:rPr>
              <a:t>Proactive
Status Update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23376" y="1901952"/>
            <a:ext cx="320040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10344" y="2194560"/>
            <a:ext cx="411480" cy="2286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700" b="1">
                <a:solidFill>
                  <a:srgbClr val="17523D"/>
                </a:solidFill>
                <a:latin typeface="Aptos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0" y="1993392"/>
            <a:ext cx="1417320" cy="731520"/>
          </a:xfrm>
          <a:prstGeom prst="roundRect">
            <a:avLst/>
          </a:prstGeom>
          <a:solidFill>
            <a:srgbClr val="DC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381700" y="2075688"/>
            <a:ext cx="770724" cy="406265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lang="en-US" sz="1200" b="1" dirty="0">
                <a:solidFill>
                  <a:srgbClr val="232A27"/>
                </a:solidFill>
                <a:latin typeface="Aptos"/>
              </a:rPr>
              <a:t>Customer</a:t>
            </a:r>
          </a:p>
          <a:p>
            <a:pPr algn="ctr"/>
            <a:r>
              <a:rPr lang="en-US" sz="1200" b="1" dirty="0">
                <a:solidFill>
                  <a:srgbClr val="232A27"/>
                </a:solidFill>
                <a:latin typeface="Aptos"/>
              </a:rPr>
              <a:t>Updated</a:t>
            </a:r>
            <a:endParaRPr sz="1200" b="1" dirty="0">
              <a:solidFill>
                <a:srgbClr val="232A27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597896" y="1901952"/>
            <a:ext cx="320040" cy="2743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7772" y="2852928"/>
            <a:ext cx="1093376" cy="20621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100" b="1" dirty="0">
                <a:solidFill>
                  <a:srgbClr val="A54848"/>
                </a:solidFill>
                <a:latin typeface="Aptos"/>
              </a:rPr>
              <a:t>Queue removed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77834" y="2852928"/>
            <a:ext cx="1582293" cy="20621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A54848"/>
                </a:solidFill>
                <a:latin typeface="Aptos"/>
              </a:rPr>
              <a:t>Manual search reduced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83988" y="2852928"/>
            <a:ext cx="1119024" cy="20621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A54848"/>
                </a:solidFill>
                <a:latin typeface="Aptos"/>
              </a:rPr>
              <a:t>Rework reduced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0073" y="2852928"/>
            <a:ext cx="1155893" cy="20621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A54848"/>
                </a:solidFill>
                <a:latin typeface="Aptos"/>
              </a:rPr>
              <a:t>Handoff reduced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8218" y="2852928"/>
            <a:ext cx="1128642" cy="20621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A54848"/>
                </a:solidFill>
                <a:latin typeface="Aptos"/>
              </a:rPr>
              <a:t>Waiting reduced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29000" y="2852928"/>
            <a:ext cx="1276119" cy="20621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100" b="1">
                <a:solidFill>
                  <a:srgbClr val="A54848"/>
                </a:solidFill>
                <a:latin typeface="Aptos"/>
              </a:rPr>
              <a:t>Follow-up reduced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3337560"/>
            <a:ext cx="11018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EC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94360" y="3337560"/>
            <a:ext cx="11018520" cy="310896"/>
          </a:xfrm>
          <a:prstGeom prst="roundRect">
            <a:avLst/>
          </a:prstGeom>
          <a:solidFill>
            <a:srgbClr val="17523D"/>
          </a:solidFill>
          <a:ln>
            <a:solidFill>
              <a:srgbClr val="175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4088" y="3378708"/>
            <a:ext cx="2105063" cy="22159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Aptos"/>
              </a:rPr>
              <a:t>FUTURE-STATE TIME PROFILE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84890" y="3923593"/>
            <a:ext cx="4964308" cy="590931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 dirty="0">
                <a:solidFill>
                  <a:srgbClr val="232A27"/>
                </a:solidFill>
                <a:latin typeface="Aptos"/>
              </a:rPr>
              <a:t>Processing Time (PT):  3 + 4 + 4 + 6 + 4 + 3 = 24 min
Waiting Time (WT):  4 + 5 + 4 + 8 + 5 + 4 = 30 min
Lead Time:  24 + 30 = 54 min  |  Waiting reduction: 53%  |  Meets target: YES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4956048"/>
            <a:ext cx="11018520" cy="841248"/>
          </a:xfrm>
          <a:prstGeom prst="roundRect">
            <a:avLst/>
          </a:prstGeom>
          <a:solidFill>
            <a:srgbClr val="DC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04672" y="5074920"/>
            <a:ext cx="1870961" cy="22159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1" dirty="0">
                <a:solidFill>
                  <a:srgbClr val="17523D"/>
                </a:solidFill>
                <a:latin typeface="Aptos"/>
              </a:rPr>
              <a:t>FUTURE-STATE OUTCOME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85970" y="5330220"/>
            <a:ext cx="1223219" cy="22159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200" b="1" dirty="0">
                <a:solidFill>
                  <a:srgbClr val="17523D"/>
                </a:solidFill>
                <a:latin typeface="Aptos"/>
              </a:rPr>
              <a:t>54 min lead time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17140" y="5330220"/>
            <a:ext cx="1075679" cy="22159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232A27"/>
                </a:solidFill>
                <a:latin typeface="Aptos"/>
              </a:rPr>
              <a:t>30 min waiting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32963" y="5330220"/>
            <a:ext cx="1341713" cy="22159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232A27"/>
                </a:solidFill>
                <a:latin typeface="Aptos"/>
              </a:rPr>
              <a:t>24 min processing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27659" y="5330220"/>
            <a:ext cx="1615762" cy="22159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200" b="1">
                <a:solidFill>
                  <a:srgbClr val="17523D"/>
                </a:solidFill>
                <a:latin typeface="Aptos"/>
              </a:rPr>
              <a:t>53% waiting reduction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4360" y="5961888"/>
            <a:ext cx="11018520" cy="502920"/>
          </a:xfrm>
          <a:prstGeom prst="roundRect">
            <a:avLst/>
          </a:prstGeom>
          <a:solidFill>
            <a:srgbClr val="F7F4E8"/>
          </a:solidFill>
          <a:ln>
            <a:solidFill>
              <a:srgbClr val="BEC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22960" y="6062472"/>
            <a:ext cx="1097160" cy="22159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1" dirty="0">
                <a:solidFill>
                  <a:srgbClr val="17523D"/>
                </a:solidFill>
                <a:latin typeface="Aptos"/>
              </a:rPr>
              <a:t>KEY CHANGES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63017" y="6132005"/>
            <a:ext cx="7681205" cy="221599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 dirty="0">
                <a:solidFill>
                  <a:srgbClr val="232A27"/>
                </a:solidFill>
                <a:latin typeface="Aptos"/>
              </a:rPr>
              <a:t>Self-service visibility • integrated status retrieval • fewer handoffs • proactive updates • reduced waiting and rework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201</Words>
  <Application>Microsoft Macintosh PowerPoint</Application>
  <PresentationFormat>Widescreen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Rinku KS</cp:lastModifiedBy>
  <cp:revision>6</cp:revision>
  <dcterms:created xsi:type="dcterms:W3CDTF">2013-01-27T09:14:16Z</dcterms:created>
  <dcterms:modified xsi:type="dcterms:W3CDTF">2026-08-16T09:42:25Z</dcterms:modified>
  <cp:category/>
</cp:coreProperties>
</file>