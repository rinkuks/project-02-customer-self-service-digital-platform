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 snapToObjects="1">
      <p:cViewPr varScale="1">
        <p:scale>
          <a:sx n="88" d="100"/>
          <a:sy n="88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46047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3A2B"/>
                </a:solidFill>
              </a:defRPr>
            </a:pPr>
            <a:r>
              <a:rPr sz="2800" dirty="0">
                <a:latin typeface="Aptos"/>
              </a:rPr>
              <a:t>SDLC DELIVERY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rPr dirty="0">
                <a:latin typeface="Aptos"/>
              </a:rPr>
              <a:t>Customer Self-Service Digital Platform | PM-led Agile/Scrum + SDLC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600200"/>
            <a:ext cx="1517904" cy="2331720"/>
          </a:xfrm>
          <a:prstGeom prst="roundRect">
            <a:avLst/>
          </a:prstGeom>
          <a:solidFill>
            <a:srgbClr val="DEE7DC"/>
          </a:solidFill>
          <a:ln w="13970">
            <a:solidFill>
              <a:srgbClr val="4E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3544" y="1719072"/>
            <a:ext cx="438912" cy="438912"/>
          </a:xfrm>
          <a:prstGeom prst="ellipse">
            <a:avLst/>
          </a:prstGeom>
          <a:solidFill>
            <a:srgbClr val="194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240280"/>
            <a:ext cx="1335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3A2B"/>
                </a:solidFill>
              </a:defRPr>
            </a:pPr>
            <a:r>
              <a:rPr>
                <a:latin typeface="Aptos"/>
              </a:rPr>
              <a:t>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304" y="2654209"/>
            <a:ext cx="1231392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MVP scope</a:t>
            </a:r>
          </a:p>
          <a:p>
            <a:pPr algn="ctr"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Account • Status • Tracking </a:t>
            </a:r>
            <a:endParaRPr lang="en-US" dirty="0">
              <a:latin typeface="Aptos"/>
            </a:endParaRPr>
          </a:p>
          <a:p>
            <a:pPr algn="ctr"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• Documents </a:t>
            </a:r>
            <a:endParaRPr lang="en-US" dirty="0">
              <a:latin typeface="Aptos"/>
            </a:endParaRPr>
          </a:p>
          <a:p>
            <a:pPr algn="ctr"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• Notifications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11095" y="2766060"/>
            <a:ext cx="91441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20824" y="1600200"/>
            <a:ext cx="1517904" cy="2331720"/>
          </a:xfrm>
          <a:prstGeom prst="roundRect">
            <a:avLst/>
          </a:prstGeom>
          <a:solidFill>
            <a:srgbClr val="DEE7DC"/>
          </a:solidFill>
          <a:ln w="13970">
            <a:solidFill>
              <a:srgbClr val="4E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560320" y="1719072"/>
            <a:ext cx="438912" cy="438912"/>
          </a:xfrm>
          <a:prstGeom prst="ellipse">
            <a:avLst/>
          </a:prstGeom>
          <a:solidFill>
            <a:srgbClr val="194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2264" y="2240280"/>
            <a:ext cx="1335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3A2B"/>
                </a:solidFill>
              </a:defRPr>
            </a:pPr>
            <a:r>
              <a:rPr>
                <a:latin typeface="Aptos"/>
              </a:rPr>
              <a:t>Analysis &amp;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4761" y="2654209"/>
            <a:ext cx="1307592" cy="8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Current-state VSM + journey map</a:t>
            </a:r>
          </a:p>
          <a:p>
            <a:pPr algn="ctr">
              <a:spcAft>
                <a:spcPts val="500"/>
              </a:spcAft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Future-state: unified status 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47872" y="2766060"/>
            <a:ext cx="91440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57600" y="1600200"/>
            <a:ext cx="1517904" cy="2331720"/>
          </a:xfrm>
          <a:prstGeom prst="roundRect">
            <a:avLst/>
          </a:prstGeom>
          <a:solidFill>
            <a:srgbClr val="DEE7DC"/>
          </a:solidFill>
          <a:ln w="13970">
            <a:solidFill>
              <a:srgbClr val="4E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197096" y="1719072"/>
            <a:ext cx="438912" cy="438912"/>
          </a:xfrm>
          <a:prstGeom prst="ellipse">
            <a:avLst/>
          </a:prstGeom>
          <a:solidFill>
            <a:srgbClr val="194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240280"/>
            <a:ext cx="1335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3A2B"/>
                </a:solidFill>
              </a:defRPr>
            </a:pPr>
            <a:r>
              <a:rPr>
                <a:latin typeface="Aptos"/>
              </a:rPr>
              <a:t>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2397" y="2654209"/>
            <a:ext cx="1008307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Jira backlog + 25 work items</a:t>
            </a:r>
          </a:p>
          <a:p>
            <a:pPr algn="ctr">
              <a:spcAft>
                <a:spcPts val="500"/>
              </a:spcAft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Incremental Scrum execution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84648" y="2766060"/>
            <a:ext cx="91440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94376" y="1600200"/>
            <a:ext cx="1517904" cy="2331720"/>
          </a:xfrm>
          <a:prstGeom prst="roundRect">
            <a:avLst/>
          </a:prstGeom>
          <a:solidFill>
            <a:srgbClr val="DEE7DC"/>
          </a:solidFill>
          <a:ln w="13970">
            <a:solidFill>
              <a:srgbClr val="4E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833872" y="1719072"/>
            <a:ext cx="438912" cy="438912"/>
          </a:xfrm>
          <a:prstGeom prst="ellipse">
            <a:avLst/>
          </a:prstGeom>
          <a:solidFill>
            <a:srgbClr val="194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5816" y="2240280"/>
            <a:ext cx="1335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3A2B"/>
                </a:solidFill>
              </a:defRPr>
            </a:pPr>
            <a:r>
              <a:rPr>
                <a:latin typeface="Aptos"/>
              </a:rPr>
              <a:t>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21741" y="2654209"/>
            <a:ext cx="1180811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Data integration + verification</a:t>
            </a:r>
          </a:p>
          <a:p>
            <a:pPr algn="ctr">
              <a:spcAft>
                <a:spcPts val="500"/>
              </a:spcAft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Status-view validation + defect readiness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21424" y="2766060"/>
            <a:ext cx="91440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31152" y="1600200"/>
            <a:ext cx="1517904" cy="2331720"/>
          </a:xfrm>
          <a:prstGeom prst="roundRect">
            <a:avLst/>
          </a:prstGeom>
          <a:solidFill>
            <a:srgbClr val="DEE7DC"/>
          </a:solidFill>
          <a:ln w="13970">
            <a:solidFill>
              <a:srgbClr val="4E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470648" y="1719072"/>
            <a:ext cx="438912" cy="438912"/>
          </a:xfrm>
          <a:prstGeom prst="ellipse">
            <a:avLst/>
          </a:prstGeom>
          <a:solidFill>
            <a:srgbClr val="194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2240280"/>
            <a:ext cx="1335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3A2B"/>
                </a:solidFill>
              </a:defRPr>
            </a:pPr>
            <a:r>
              <a:rPr>
                <a:latin typeface="Aptos"/>
              </a:rPr>
              <a:t>UAT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654209"/>
            <a:ext cx="1308827" cy="8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Business validation</a:t>
            </a:r>
          </a:p>
          <a:p>
            <a:pPr algn="ctr">
              <a:spcAft>
                <a:spcPts val="500"/>
              </a:spcAft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Acceptance against MVP criteria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58200" y="2766060"/>
            <a:ext cx="91440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567928" y="1600200"/>
            <a:ext cx="1517904" cy="2331720"/>
          </a:xfrm>
          <a:prstGeom prst="roundRect">
            <a:avLst/>
          </a:prstGeom>
          <a:solidFill>
            <a:srgbClr val="DEE7DC"/>
          </a:solidFill>
          <a:ln w="13970">
            <a:solidFill>
              <a:srgbClr val="4E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07424" y="1719072"/>
            <a:ext cx="438912" cy="438912"/>
          </a:xfrm>
          <a:prstGeom prst="ellipse">
            <a:avLst/>
          </a:prstGeom>
          <a:solidFill>
            <a:srgbClr val="194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59367" y="2240280"/>
            <a:ext cx="1335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3A2B"/>
                </a:solidFill>
              </a:defRPr>
            </a:pPr>
            <a:r>
              <a:rPr>
                <a:latin typeface="Aptos"/>
              </a:rPr>
              <a:t>Deployment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38031" y="2654209"/>
            <a:ext cx="1325879" cy="802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Release-readiness review</a:t>
            </a:r>
          </a:p>
          <a:p>
            <a:pPr algn="ctr">
              <a:spcAft>
                <a:spcPts val="500"/>
              </a:spcAft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Production handoff / approvals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094976" y="2766060"/>
            <a:ext cx="91440" cy="0"/>
          </a:xfrm>
          <a:prstGeom prst="line">
            <a:avLst/>
          </a:prstGeom>
          <a:ln w="19050">
            <a:solidFill>
              <a:srgbClr val="5F5F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204704" y="1600200"/>
            <a:ext cx="1517904" cy="2331720"/>
          </a:xfrm>
          <a:prstGeom prst="roundRect">
            <a:avLst/>
          </a:prstGeom>
          <a:solidFill>
            <a:srgbClr val="DEE7DC"/>
          </a:solidFill>
          <a:ln w="13970">
            <a:solidFill>
              <a:srgbClr val="4E6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744200" y="1719072"/>
            <a:ext cx="438912" cy="438912"/>
          </a:xfrm>
          <a:prstGeom prst="ellipse">
            <a:avLst/>
          </a:prstGeom>
          <a:solidFill>
            <a:srgbClr val="194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>
                <a:latin typeface="Aptos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96144" y="2240280"/>
            <a:ext cx="1335024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93A2B"/>
                </a:solidFill>
              </a:defRPr>
            </a:pPr>
            <a:r>
              <a:rPr>
                <a:latin typeface="Aptos"/>
              </a:rPr>
              <a:t>Hypercare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30401" y="2654209"/>
            <a:ext cx="1200767" cy="964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Monitor status visibility</a:t>
            </a:r>
          </a:p>
          <a:p>
            <a:pPr algn="ctr">
              <a:spcAft>
                <a:spcPts val="500"/>
              </a:spcAft>
              <a:defRPr sz="1050">
                <a:solidFill>
                  <a:srgbClr val="464646"/>
                </a:solidFill>
              </a:defRPr>
            </a:pPr>
            <a:r>
              <a:rPr dirty="0">
                <a:latin typeface="Aptos"/>
              </a:rPr>
              <a:t>Resolve release issues + handover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251960"/>
            <a:ext cx="10927080" cy="960120"/>
          </a:xfrm>
          <a:prstGeom prst="roundRect">
            <a:avLst/>
          </a:prstGeom>
          <a:solidFill>
            <a:srgbClr val="EDE7D7"/>
          </a:solidFill>
          <a:ln>
            <a:solidFill>
              <a:srgbClr val="B4A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4407408"/>
            <a:ext cx="1611595" cy="3000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193A2B"/>
                </a:solidFill>
              </a:defRPr>
            </a:pPr>
            <a:r>
              <a:rPr dirty="0">
                <a:latin typeface="Aptos"/>
              </a:rPr>
              <a:t>PM GOVERNANCE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40003" y="4572000"/>
            <a:ext cx="85953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414141"/>
                </a:solidFill>
              </a:defRPr>
            </a:pPr>
            <a:r>
              <a:rPr dirty="0">
                <a:latin typeface="Aptos"/>
              </a:rPr>
              <a:t>Scope &amp; backlog prioriti</a:t>
            </a:r>
            <a:r>
              <a:rPr lang="en-US" dirty="0">
                <a:latin typeface="Aptos"/>
              </a:rPr>
              <a:t>z</a:t>
            </a:r>
            <a:r>
              <a:rPr dirty="0">
                <a:latin typeface="Aptos"/>
              </a:rPr>
              <a:t>ation • Jira execution • Dependencies / RAID • Testing &amp; UAT readiness • Release readiness • Stakeholder reporting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5486400"/>
            <a:ext cx="10469880" cy="713232"/>
          </a:xfrm>
          <a:prstGeom prst="roundRect">
            <a:avLst/>
          </a:prstGeom>
          <a:solidFill>
            <a:srgbClr val="1948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545587" y="5704516"/>
            <a:ext cx="901548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rPr sz="1200" dirty="0">
                <a:latin typeface="Aptos"/>
              </a:rPr>
              <a:t>Evidence : Project Brief • Current/Future VSM • A3 • Improvement Backlog • 25 Jira work items • Sprint 2 velocity • Scrum status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142</Words>
  <Application>Microsoft Macintosh PowerPoint</Application>
  <PresentationFormat>Widescreen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Rinku KS</cp:lastModifiedBy>
  <cp:revision>2</cp:revision>
  <dcterms:created xsi:type="dcterms:W3CDTF">2013-01-27T09:14:16Z</dcterms:created>
  <dcterms:modified xsi:type="dcterms:W3CDTF">2026-08-16T11:04:27Z</dcterms:modified>
  <cp:category/>
</cp:coreProperties>
</file>