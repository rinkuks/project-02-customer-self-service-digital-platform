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8"/>
    <a:srgbClr val="2859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771"/>
  </p:normalViewPr>
  <p:slideViewPr>
    <p:cSldViewPr snapToGrid="0">
      <p:cViewPr varScale="1">
        <p:scale>
          <a:sx n="88" d="100"/>
          <a:sy n="8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2982-6894-769F-C6BA-B651434D4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31215-9000-4A23-8A36-97094414F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550D8-F05D-9CC0-12C5-908F381F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97C9-4123-F6DA-529F-863D3720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7FDE9-32C9-56BC-7555-60E87CC7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4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659F-1430-007D-7231-8A05F36B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9A30-5CF6-C7B5-D921-EC1301CF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E3F81-9953-6592-FBE2-AD4B0C8A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36599-BAE7-D83E-D336-6B5B7FC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1C683-F1FF-AB26-AE37-D3F01146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0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14EB-F32A-B0EA-9A4B-9B098A845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A9B55-A662-4489-922A-EABCBCB23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A31CB-2E2D-FC12-CC11-DF240BE9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DED5-CFFF-0B52-D9F2-3A520472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A77AD-FC2E-5535-5886-6427471A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4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A680-9915-7093-6A06-7B66D2CC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80321-6759-8727-7BB1-977569881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1FB5C-4321-E7D7-C60B-1BD739DB6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5514F-A79A-10AB-CB8A-08D2F0DE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8725A-4676-D27C-5DB4-F8AA3B79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C8B69-2782-7D67-5EC3-C70F9350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2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86E0-44E6-5C06-5A52-3063C097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28E9-2E2D-FCC9-C8D5-FA752A51D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A3A16-FD3C-6606-90E0-AB72661A3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6AE4A-8DAB-C70F-48E5-16C273C67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8DB5E-3BA1-444A-C765-5C9CFBB88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5B177-F7B3-F24E-32BB-DDCCA270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E3D4C-1407-2367-0959-1613C1BA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025EC-53BC-EA63-2310-D0275686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7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41B7-67DC-8147-13E0-4039FB8A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212AC-57F9-F949-4EDA-6BA3678A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0FD74-9DAF-07F8-1EC2-FE3DA0B1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F26FD-87DA-FC58-AB8A-49FB2903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7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1E3575-0A91-32F4-72C0-131E4FEC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DE995-37B2-83B1-C740-0449B5A6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088AC-D3EE-7878-18A4-18AA9B55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618-DE22-6103-0F6D-15D719FD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34055-A1D4-B224-2F1F-03E3BC1E7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56DFE-58A9-435D-00FC-0C6DEF034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5D86E-37BE-0471-A85D-B6A2E082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5CE60-19A8-5F52-15A8-6729BD80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7923F-7725-F874-C37E-E050F28A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0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4BA-F41D-B2D9-C68E-781F5B392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D345D-EBF7-F92A-B7DE-7AC7C1E4F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4B9C0-B540-876C-8C1D-3E883F6DC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C6186-59B2-9F85-CAC2-EB00BC6D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7F39A-C107-9B25-BC36-801BCDB8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59CE8-9B34-5D32-8F08-6FEDCA11B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8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D729E-6305-39B9-9989-E03D9A85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0965D-FB3A-C1E5-8AB1-EB98DFDDC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64FF5-D278-EBF8-FB4D-4493F9A6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95B42-74CB-7072-1282-84140991B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9BEE-8A9D-C0F1-8DC2-EB3C350B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9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51BE9-6125-12CC-B40E-648DCAF77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03103-43FA-26AD-0CAB-64AB73E08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0AF4F-1907-FC8C-A015-62E0BA88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BDC3-3CCA-C648-EB7C-0E6E6A78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A6C81-CC63-6A6E-A9AA-13693C55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0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7C58A-F512-C0CF-4459-9264CEE7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3E2CC-20E3-4162-44A7-E217FFBC8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2ACE-FF7E-65AC-2DF2-BDF1F0214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E8E15-395C-CB49-B869-AD6D27E0E6C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3E321-D829-40A7-0EED-816142C21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77933-FAC6-168F-C80C-964F7BBAC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319B4-7D64-0E4C-9B98-150CAE1F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8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757761-9322-BF6E-2544-B4E665788C0D}"/>
              </a:ext>
            </a:extLst>
          </p:cNvPr>
          <p:cNvSpPr txBox="1"/>
          <p:nvPr/>
        </p:nvSpPr>
        <p:spPr>
          <a:xfrm>
            <a:off x="333828" y="275772"/>
            <a:ext cx="9999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285943"/>
                </a:solidFill>
              </a:rPr>
              <a:t>Current-State Waste &amp; Root-cause Analysis (Lean Diagnosis)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189DA6-5B77-2EF3-2210-91A56696C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203829"/>
              </p:ext>
            </p:extLst>
          </p:nvPr>
        </p:nvGraphicFramePr>
        <p:xfrm>
          <a:off x="1270000" y="1079861"/>
          <a:ext cx="9652000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06828554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85877397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48588029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97668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5F1E8"/>
                          </a:solidFill>
                        </a:rPr>
                        <a:t>Current-State Observation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5F1E8"/>
                          </a:solidFill>
                        </a:rPr>
                        <a:t>Waste Type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5F1E8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5F1E8"/>
                          </a:solidFill>
                        </a:rPr>
                        <a:t>Root-Cause Hypothesis</a:t>
                      </a:r>
                    </a:p>
                  </a:txBody>
                  <a:tcPr>
                    <a:solidFill>
                      <a:srgbClr val="2859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0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Customer waits in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Lead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Demand handled sequentially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40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Agent searches multiple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Overprocessing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Processing effort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Information fragmented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50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Customer repeats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Rework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Rework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Information not automatically carried forward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79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Status requires agent follow-up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Cycle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No real-time status visibility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919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Multiple handoffs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Lead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Process ownership fragmented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243765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5DBCD5-B557-1DE1-0368-81D878718800}"/>
              </a:ext>
            </a:extLst>
          </p:cNvPr>
          <p:cNvCxnSpPr>
            <a:cxnSpLocks/>
          </p:cNvCxnSpPr>
          <p:nvPr/>
        </p:nvCxnSpPr>
        <p:spPr>
          <a:xfrm flipV="1">
            <a:off x="6560458" y="1536460"/>
            <a:ext cx="0" cy="170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7FC548-BEC4-F492-C61E-2C7358C62F59}"/>
              </a:ext>
            </a:extLst>
          </p:cNvPr>
          <p:cNvCxnSpPr>
            <a:cxnSpLocks/>
          </p:cNvCxnSpPr>
          <p:nvPr/>
        </p:nvCxnSpPr>
        <p:spPr>
          <a:xfrm flipV="1">
            <a:off x="6560458" y="1890246"/>
            <a:ext cx="0" cy="170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C814D4-B26A-B4D4-6C8B-BCD8417C6573}"/>
              </a:ext>
            </a:extLst>
          </p:cNvPr>
          <p:cNvCxnSpPr>
            <a:cxnSpLocks/>
          </p:cNvCxnSpPr>
          <p:nvPr/>
        </p:nvCxnSpPr>
        <p:spPr>
          <a:xfrm flipV="1">
            <a:off x="6560458" y="2311157"/>
            <a:ext cx="0" cy="170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33D456-11DC-F88F-764E-35D351988E51}"/>
              </a:ext>
            </a:extLst>
          </p:cNvPr>
          <p:cNvCxnSpPr>
            <a:cxnSpLocks/>
          </p:cNvCxnSpPr>
          <p:nvPr/>
        </p:nvCxnSpPr>
        <p:spPr>
          <a:xfrm flipV="1">
            <a:off x="6560458" y="2732072"/>
            <a:ext cx="0" cy="170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FB66D2-570C-EA4F-3155-B522095BAA79}"/>
              </a:ext>
            </a:extLst>
          </p:cNvPr>
          <p:cNvCxnSpPr>
            <a:cxnSpLocks/>
          </p:cNvCxnSpPr>
          <p:nvPr/>
        </p:nvCxnSpPr>
        <p:spPr>
          <a:xfrm flipV="1">
            <a:off x="6560458" y="3116701"/>
            <a:ext cx="0" cy="170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873B2-4EDF-83BD-242D-7CCDA90519DE}"/>
              </a:ext>
            </a:extLst>
          </p:cNvPr>
          <p:cNvGrpSpPr/>
          <p:nvPr/>
        </p:nvGrpSpPr>
        <p:grpSpPr>
          <a:xfrm>
            <a:off x="333828" y="3802742"/>
            <a:ext cx="9895168" cy="2597795"/>
            <a:chOff x="333828" y="3802742"/>
            <a:chExt cx="9895168" cy="259779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A9775C-2333-857E-263B-7D6A232443B3}"/>
                </a:ext>
              </a:extLst>
            </p:cNvPr>
            <p:cNvSpPr txBox="1"/>
            <p:nvPr/>
          </p:nvSpPr>
          <p:spPr>
            <a:xfrm>
              <a:off x="333828" y="3802742"/>
              <a:ext cx="2222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Top 3 Waste Drivers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B62D3C-D1D4-D329-B3D7-FB64BAE09F0D}"/>
                </a:ext>
              </a:extLst>
            </p:cNvPr>
            <p:cNvSpPr txBox="1"/>
            <p:nvPr/>
          </p:nvSpPr>
          <p:spPr>
            <a:xfrm>
              <a:off x="1335314" y="4368800"/>
              <a:ext cx="7096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Waiting                                                    64 minutes of the 92-minute lead time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9E1F73-9531-18AA-516F-0EBB770DC787}"/>
                </a:ext>
              </a:extLst>
            </p:cNvPr>
            <p:cNvSpPr txBox="1"/>
            <p:nvPr/>
          </p:nvSpPr>
          <p:spPr>
            <a:xfrm>
              <a:off x="1306286" y="4945353"/>
              <a:ext cx="84459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Manual system </a:t>
              </a:r>
            </a:p>
            <a:p>
              <a:r>
                <a:rPr lang="en-US" dirty="0"/>
                <a:t>searching                                                Concentrated around verification and status search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B5C497-7365-B13D-F582-44F9CBA7BC77}"/>
                </a:ext>
              </a:extLst>
            </p:cNvPr>
            <p:cNvSpPr txBox="1"/>
            <p:nvPr/>
          </p:nvSpPr>
          <p:spPr>
            <a:xfrm>
              <a:off x="1313542" y="5754206"/>
              <a:ext cx="89154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Rework/</a:t>
              </a:r>
            </a:p>
            <a:p>
              <a:r>
                <a:rPr lang="en-US" dirty="0"/>
                <a:t>Follow-up                                               Caused by incomplete information and lack of visibility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794C816-CD6F-6483-B6C6-1CE889F3B67D}"/>
                </a:ext>
              </a:extLst>
            </p:cNvPr>
            <p:cNvCxnSpPr/>
            <p:nvPr/>
          </p:nvCxnSpPr>
          <p:spPr>
            <a:xfrm>
              <a:off x="3730172" y="4368800"/>
              <a:ext cx="0" cy="2031737"/>
            </a:xfrm>
            <a:prstGeom prst="line">
              <a:avLst/>
            </a:prstGeom>
            <a:ln>
              <a:solidFill>
                <a:schemeClr val="accent1">
                  <a:alpha val="29202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230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96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KS</dc:creator>
  <cp:lastModifiedBy>Rinku KS</cp:lastModifiedBy>
  <cp:revision>4</cp:revision>
  <dcterms:created xsi:type="dcterms:W3CDTF">2026-08-14T09:16:41Z</dcterms:created>
  <dcterms:modified xsi:type="dcterms:W3CDTF">2026-08-15T10:51:16Z</dcterms:modified>
</cp:coreProperties>
</file>